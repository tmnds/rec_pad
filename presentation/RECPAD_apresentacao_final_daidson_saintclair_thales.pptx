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9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87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728411DB-A099-E1CC-5F4B-1D773042A33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0AB6857-9547-D40D-6559-02382B13AF9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AF4359-3B01-4A51-AD3A-920D1483BDA0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C4C5359-04E9-74DD-5F35-EDDE3A6D46C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2885E98-23AF-41E5-5264-DC24E48DEE5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45AE67-FE9E-4F1F-B443-BF83AD3A48C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6749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390653-92F8-49E4-8F95-A4CD53EBB4D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7580DA-0642-4B48-8142-B8609BF4EC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25186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E37A6-1BD7-4C19-984D-167542846561}" type="datetime1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84753-5467-4D03-92B7-22EEDC905C8B}" type="datetime1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7E422-DB87-4363-B6F7-16CDB2EF08C7}" type="datetime1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A02C9-9042-477D-9CFE-0E897AEB90AC}" type="datetime1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13EBE-C500-4613-B2BF-981BA88F7DB4}" type="datetime1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F51D3-7970-4A15-9D90-C5B3904142EE}" type="datetime1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7AEEC-599C-49FD-B5E7-35E1472C9846}" type="datetime1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DF74D-8493-4429-B453-4EAC7E6ADCF2}" type="datetime1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3615D-872D-47E5-A716-D89D0F8076D9}" type="datetime1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86BD-3701-4022-A1EE-94C9DB074E03}" type="datetime1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0ACEF-1338-4FD2-B245-C02802387764}" type="datetime1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E7E0FB-6C25-44AF-BA5B-C8990F2B6D01}" type="datetime1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82296"/>
          </a:xfrm>
          <a:prstGeom prst="rect">
            <a:avLst/>
          </a:prstGeom>
          <a:solidFill>
            <a:srgbClr val="D97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2459736"/>
            <a:ext cx="10515600" cy="1655064"/>
          </a:xfrm>
          <a:prstGeom prst="rect">
            <a:avLst/>
          </a:prstGeom>
          <a:noFill/>
        </p:spPr>
        <p:txBody>
          <a:bodyPr wrap="square" lIns="25400" tIns="25400" rIns="25400" bIns="25400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4000" b="1" i="0" noProof="0" dirty="0">
                <a:solidFill>
                  <a:srgbClr val="FFFFFF"/>
                </a:solidFill>
                <a:latin typeface="Calibri"/>
              </a:rPr>
              <a:t>Ensemble evolucionário para previsão de séries temporais </a:t>
            </a:r>
            <a:r>
              <a:rPr lang="pt-BR" sz="4000" b="1" i="0" noProof="0" dirty="0" err="1">
                <a:solidFill>
                  <a:srgbClr val="FFFFFF"/>
                </a:solidFill>
                <a:latin typeface="Calibri"/>
              </a:rPr>
              <a:t>univariadas</a:t>
            </a:r>
            <a:endParaRPr lang="pt-BR" sz="4000" b="1" i="0" noProof="0" dirty="0">
              <a:solidFill>
                <a:srgbClr val="FFFFFF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lang="pt-BR" sz="1900" b="0" i="1" noProof="0" dirty="0">
                <a:solidFill>
                  <a:srgbClr val="DDE8F7"/>
                </a:solidFill>
                <a:latin typeface="Calibri"/>
              </a:rPr>
              <a:t>Uma abordagem a partir do uso de Algoritmo Genético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10515600" cy="167335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2000" b="1" i="0" noProof="0" dirty="0">
                <a:solidFill>
                  <a:srgbClr val="FFFFFF"/>
                </a:solidFill>
                <a:latin typeface="Calibri"/>
              </a:rPr>
              <a:t>Daidson Fonseca Alves</a:t>
            </a:r>
          </a:p>
          <a:p>
            <a:pPr algn="l">
              <a:spcAft>
                <a:spcPts val="200"/>
              </a:spcAft>
            </a:pPr>
            <a:r>
              <a:rPr lang="pt-BR" sz="2000" b="1" i="0" noProof="0" dirty="0">
                <a:solidFill>
                  <a:srgbClr val="FFFFFF"/>
                </a:solidFill>
                <a:latin typeface="Calibri"/>
              </a:rPr>
              <a:t>Saint-Clair dos Santos Ramos Filho</a:t>
            </a:r>
          </a:p>
          <a:p>
            <a:pPr algn="l">
              <a:spcAft>
                <a:spcPts val="600"/>
              </a:spcAft>
            </a:pPr>
            <a:r>
              <a:rPr lang="pt-BR" sz="2000" b="1" i="0" noProof="0" dirty="0">
                <a:solidFill>
                  <a:srgbClr val="FFFFFF"/>
                </a:solidFill>
                <a:latin typeface="Calibri"/>
              </a:rPr>
              <a:t>Thales Rodrigo de Moraes Rego Moura Mendes</a:t>
            </a:r>
          </a:p>
          <a:p>
            <a:pPr algn="l">
              <a:spcAft>
                <a:spcPts val="400"/>
              </a:spcAft>
            </a:pPr>
            <a:r>
              <a:rPr lang="pt-BR" sz="1500" b="0" i="0" noProof="0" dirty="0">
                <a:solidFill>
                  <a:srgbClr val="B9C4D8"/>
                </a:solidFill>
                <a:latin typeface="Calibri"/>
              </a:rPr>
              <a:t>Docente: Prof. Dr. João Fausto Lorenzato de Oliveira · Disciplina: Reconhecimento de Padrões · PPGEC 2026.1</a:t>
            </a:r>
          </a:p>
          <a:p>
            <a:pPr algn="l">
              <a:spcAft>
                <a:spcPts val="400"/>
              </a:spcAft>
            </a:pPr>
            <a:r>
              <a:rPr lang="pt-BR" sz="1200" b="0" i="1" noProof="0" dirty="0">
                <a:solidFill>
                  <a:srgbClr val="8F9DB8"/>
                </a:solidFill>
                <a:latin typeface="Calibri"/>
              </a:rPr>
              <a:t>Base: </a:t>
            </a:r>
            <a:r>
              <a:rPr lang="pt-BR" sz="1200" b="0" i="1" noProof="0" dirty="0" err="1">
                <a:solidFill>
                  <a:srgbClr val="8F9DB8"/>
                </a:solidFill>
                <a:latin typeface="Calibri"/>
              </a:rPr>
              <a:t>Sci</a:t>
            </a:r>
            <a:r>
              <a:rPr lang="pt-BR" sz="1200" b="0" i="1" noProof="0" dirty="0">
                <a:solidFill>
                  <a:srgbClr val="8F9DB8"/>
                </a:solidFill>
                <a:latin typeface="Calibri"/>
              </a:rPr>
              <a:t>. Reports (2026) — “A </a:t>
            </a:r>
            <a:r>
              <a:rPr lang="pt-BR" sz="1200" b="0" i="1" noProof="0" dirty="0" err="1">
                <a:solidFill>
                  <a:srgbClr val="8F9DB8"/>
                </a:solidFill>
                <a:latin typeface="Calibri"/>
              </a:rPr>
              <a:t>genetic</a:t>
            </a:r>
            <a:r>
              <a:rPr lang="pt-BR" sz="1200" b="0" i="1" noProof="0" dirty="0">
                <a:solidFill>
                  <a:srgbClr val="8F9DB8"/>
                </a:solidFill>
                <a:latin typeface="Calibri"/>
              </a:rPr>
              <a:t> </a:t>
            </a:r>
            <a:r>
              <a:rPr lang="pt-BR" sz="1200" b="0" i="1" noProof="0" dirty="0" err="1">
                <a:solidFill>
                  <a:srgbClr val="8F9DB8"/>
                </a:solidFill>
                <a:latin typeface="Calibri"/>
              </a:rPr>
              <a:t>algorithm-based</a:t>
            </a:r>
            <a:r>
              <a:rPr lang="pt-BR" sz="1200" b="0" i="1" noProof="0" dirty="0">
                <a:solidFill>
                  <a:srgbClr val="8F9DB8"/>
                </a:solidFill>
                <a:latin typeface="Calibri"/>
              </a:rPr>
              <a:t> ensemble framework for </a:t>
            </a:r>
            <a:r>
              <a:rPr lang="pt-BR" sz="1200" b="0" i="1" noProof="0" dirty="0" err="1">
                <a:solidFill>
                  <a:srgbClr val="8F9DB8"/>
                </a:solidFill>
                <a:latin typeface="Calibri"/>
              </a:rPr>
              <a:t>wind</a:t>
            </a:r>
            <a:r>
              <a:rPr lang="pt-BR" sz="1200" b="0" i="1" noProof="0" dirty="0">
                <a:solidFill>
                  <a:srgbClr val="8F9DB8"/>
                </a:solidFill>
                <a:latin typeface="Calibri"/>
              </a:rPr>
              <a:t> </a:t>
            </a:r>
            <a:r>
              <a:rPr lang="pt-BR" sz="1200" b="0" i="1" noProof="0" dirty="0" err="1">
                <a:solidFill>
                  <a:srgbClr val="8F9DB8"/>
                </a:solidFill>
                <a:latin typeface="Calibri"/>
              </a:rPr>
              <a:t>speed</a:t>
            </a:r>
            <a:r>
              <a:rPr lang="pt-BR" sz="1200" b="0" i="1" noProof="0" dirty="0">
                <a:solidFill>
                  <a:srgbClr val="8F9DB8"/>
                </a:solidFill>
                <a:latin typeface="Calibri"/>
              </a:rPr>
              <a:t> </a:t>
            </a:r>
            <a:r>
              <a:rPr lang="pt-BR" sz="1200" b="0" i="1" noProof="0" dirty="0" err="1">
                <a:solidFill>
                  <a:srgbClr val="8F9DB8"/>
                </a:solidFill>
                <a:latin typeface="Calibri"/>
              </a:rPr>
              <a:t>forecasting</a:t>
            </a:r>
            <a:r>
              <a:rPr lang="pt-BR" sz="1200" b="0" i="1" noProof="0" dirty="0">
                <a:solidFill>
                  <a:srgbClr val="8F9DB8"/>
                </a:solidFill>
                <a:latin typeface="Calibri"/>
              </a:rPr>
              <a:t>”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FA22D367-977B-BBC4-900E-A1296E496D89}"/>
              </a:ext>
            </a:extLst>
          </p:cNvPr>
          <p:cNvGrpSpPr/>
          <p:nvPr/>
        </p:nvGrpSpPr>
        <p:grpSpPr>
          <a:xfrm>
            <a:off x="502920" y="234540"/>
            <a:ext cx="2536292" cy="551844"/>
            <a:chOff x="502920" y="234540"/>
            <a:chExt cx="2536292" cy="551844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1545019E-D8F5-C0CD-FEC9-8A03D3E3357B}"/>
                </a:ext>
              </a:extLst>
            </p:cNvPr>
            <p:cNvSpPr>
              <a:spLocks/>
            </p:cNvSpPr>
            <p:nvPr/>
          </p:nvSpPr>
          <p:spPr>
            <a:xfrm>
              <a:off x="502920" y="234540"/>
              <a:ext cx="2536292" cy="551844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F4D58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pic>
          <p:nvPicPr>
            <p:cNvPr id="10" name="Picture 2" descr="PPGEC / UPE - Principal">
              <a:extLst>
                <a:ext uri="{FF2B5EF4-FFF2-40B4-BE49-F238E27FC236}">
                  <a16:creationId xmlns:a16="http://schemas.microsoft.com/office/drawing/2014/main" id="{C63811B3-1DCF-D91B-5D88-D5990849A8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998" y="348054"/>
              <a:ext cx="1003990" cy="3154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DCF5FEA1-9D47-936B-EF0F-4ECECD9BC895}"/>
                </a:ext>
              </a:extLst>
            </p:cNvPr>
            <p:cNvCxnSpPr>
              <a:cxnSpLocks/>
            </p:cNvCxnSpPr>
            <p:nvPr/>
          </p:nvCxnSpPr>
          <p:spPr>
            <a:xfrm>
              <a:off x="1771066" y="352728"/>
              <a:ext cx="0" cy="315468"/>
            </a:xfrm>
            <a:prstGeom prst="line">
              <a:avLst/>
            </a:prstGeom>
            <a:ln>
              <a:solidFill>
                <a:srgbClr val="0E3D49"/>
              </a:solidFill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803DF947-92D6-064B-1363-42EC3D64A9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04672" y="327429"/>
              <a:ext cx="800934" cy="3567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453CA8E-2539-C51C-BB8E-E5BE753A9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8095" y="6492875"/>
            <a:ext cx="2133600" cy="365125"/>
          </a:xfrm>
        </p:spPr>
        <p:txBody>
          <a:bodyPr/>
          <a:lstStyle/>
          <a:p>
            <a:fld id="{C1FF6DA9-008F-8B48-92A6-B652298478BF}" type="slidenum">
              <a:rPr lang="pt-BR" noProof="0" smtClean="0"/>
              <a:t>1</a:t>
            </a:fld>
            <a:endParaRPr lang="pt-BR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D97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789920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pt-BR" sz="2800" b="1" i="0" noProof="0" dirty="0">
                <a:solidFill>
                  <a:srgbClr val="FFFFFF"/>
                </a:solidFill>
                <a:latin typeface="Calibri"/>
              </a:rPr>
              <a:t>Sumário</a:t>
            </a:r>
          </a:p>
          <a:p>
            <a:pPr algn="l">
              <a:spcAft>
                <a:spcPts val="0"/>
              </a:spcAft>
            </a:pPr>
            <a:r>
              <a:rPr lang="pt-BR" sz="1300" b="0" i="1" noProof="0" dirty="0">
                <a:solidFill>
                  <a:srgbClr val="DDE8F7"/>
                </a:solidFill>
                <a:latin typeface="Calibri"/>
              </a:rPr>
              <a:t>Roteiro da apresentação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91440"/>
            <a:ext cx="1371600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>
              <a:spcAft>
                <a:spcPts val="0"/>
              </a:spcAft>
            </a:pPr>
            <a:endParaRPr lang="pt-BR" noProof="0" dirty="0"/>
          </a:p>
        </p:txBody>
      </p:sp>
      <p:sp>
        <p:nvSpPr>
          <p:cNvPr id="6" name="Oval 5"/>
          <p:cNvSpPr/>
          <p:nvPr/>
        </p:nvSpPr>
        <p:spPr>
          <a:xfrm>
            <a:off x="640080" y="1443837"/>
            <a:ext cx="685800" cy="685800"/>
          </a:xfrm>
          <a:prstGeom prst="ellipse">
            <a:avLst/>
          </a:prstGeom>
          <a:solidFill>
            <a:srgbClr val="D9771E"/>
          </a:solidFill>
          <a:ln w="15875">
            <a:solidFill>
              <a:srgbClr val="D977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8100" bIns="38100" rtlCol="0" anchor="ctr"/>
          <a:lstStyle/>
          <a:p>
            <a:pPr algn="ctr">
              <a:spcAft>
                <a:spcPts val="100"/>
              </a:spcAft>
            </a:pPr>
            <a:r>
              <a:rPr lang="pt-BR" sz="2600" b="1" i="0" noProof="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325880"/>
            <a:ext cx="9966960" cy="92171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2000" b="1" i="0" noProof="0" dirty="0">
                <a:solidFill>
                  <a:srgbClr val="1F2A44"/>
                </a:solidFill>
                <a:latin typeface="Calibri"/>
              </a:rPr>
              <a:t>Introdução &amp; Motivação</a:t>
            </a:r>
          </a:p>
          <a:p>
            <a:pPr algn="l">
              <a:spcAft>
                <a:spcPts val="0"/>
              </a:spcAft>
            </a:pPr>
            <a:r>
              <a:rPr lang="pt-BR" sz="1400" b="0" i="0" noProof="0" dirty="0">
                <a:solidFill>
                  <a:srgbClr val="555C69"/>
                </a:solidFill>
                <a:latin typeface="Calibri"/>
              </a:rPr>
              <a:t>Problema, métodos da literatura e a proposta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493568"/>
            <a:ext cx="685800" cy="685800"/>
          </a:xfrm>
          <a:prstGeom prst="ellipse">
            <a:avLst/>
          </a:prstGeom>
          <a:solidFill>
            <a:srgbClr val="D9771E"/>
          </a:solidFill>
          <a:ln w="15875">
            <a:solidFill>
              <a:srgbClr val="D977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8100" bIns="38100" rtlCol="0" anchor="ctr"/>
          <a:lstStyle/>
          <a:p>
            <a:pPr algn="ctr">
              <a:spcAft>
                <a:spcPts val="100"/>
              </a:spcAft>
            </a:pPr>
            <a:r>
              <a:rPr lang="pt-BR" sz="2600" b="1" i="0" noProof="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375611"/>
            <a:ext cx="9966960" cy="92171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2000" b="1" i="0" noProof="0" dirty="0">
                <a:solidFill>
                  <a:srgbClr val="1F2A44"/>
                </a:solidFill>
                <a:latin typeface="Calibri"/>
              </a:rPr>
              <a:t>Método Proposto</a:t>
            </a:r>
          </a:p>
          <a:p>
            <a:pPr algn="l">
              <a:spcAft>
                <a:spcPts val="0"/>
              </a:spcAft>
            </a:pPr>
            <a:r>
              <a:rPr lang="pt-BR" sz="1400" b="0" i="0" noProof="0" dirty="0">
                <a:solidFill>
                  <a:srgbClr val="555C69"/>
                </a:solidFill>
                <a:latin typeface="Calibri"/>
              </a:rPr>
              <a:t>Pipeline híbrido: modelos base → seleção top-4 → ensemble por GA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543299"/>
            <a:ext cx="685800" cy="685800"/>
          </a:xfrm>
          <a:prstGeom prst="ellipse">
            <a:avLst/>
          </a:prstGeom>
          <a:solidFill>
            <a:srgbClr val="D9771E"/>
          </a:solidFill>
          <a:ln w="15875">
            <a:solidFill>
              <a:srgbClr val="D977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8100" bIns="38100" rtlCol="0" anchor="ctr"/>
          <a:lstStyle/>
          <a:p>
            <a:pPr algn="ctr">
              <a:spcAft>
                <a:spcPts val="100"/>
              </a:spcAft>
            </a:pPr>
            <a:r>
              <a:rPr lang="pt-BR" sz="2600" b="1" i="0" noProof="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425342"/>
            <a:ext cx="9966960" cy="92171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2000" b="1" i="0" noProof="0" dirty="0">
                <a:solidFill>
                  <a:srgbClr val="1F2A44"/>
                </a:solidFill>
                <a:latin typeface="Calibri"/>
              </a:rPr>
              <a:t>Experimentos</a:t>
            </a:r>
          </a:p>
          <a:p>
            <a:pPr algn="l">
              <a:spcAft>
                <a:spcPts val="0"/>
              </a:spcAft>
            </a:pPr>
            <a:r>
              <a:rPr lang="pt-BR" sz="1400" b="0" i="0" noProof="0" dirty="0">
                <a:solidFill>
                  <a:srgbClr val="555C69"/>
                </a:solidFill>
                <a:latin typeface="Calibri"/>
              </a:rPr>
              <a:t>Bases de dados, seleção de parâmetros e protocolo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593031"/>
            <a:ext cx="685800" cy="685800"/>
          </a:xfrm>
          <a:prstGeom prst="ellipse">
            <a:avLst/>
          </a:prstGeom>
          <a:solidFill>
            <a:srgbClr val="D9771E"/>
          </a:solidFill>
          <a:ln w="15875">
            <a:solidFill>
              <a:srgbClr val="D977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8100" bIns="38100" rtlCol="0" anchor="ctr"/>
          <a:lstStyle/>
          <a:p>
            <a:pPr algn="ctr">
              <a:spcAft>
                <a:spcPts val="100"/>
              </a:spcAft>
            </a:pPr>
            <a:r>
              <a:rPr lang="pt-BR" sz="2600" b="1" i="0" noProof="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475073"/>
            <a:ext cx="9966960" cy="92171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2000" b="1" i="0" noProof="0" dirty="0">
                <a:solidFill>
                  <a:srgbClr val="1F2A44"/>
                </a:solidFill>
                <a:latin typeface="Calibri"/>
              </a:rPr>
              <a:t>Resultados</a:t>
            </a:r>
          </a:p>
          <a:p>
            <a:pPr algn="l">
              <a:spcAft>
                <a:spcPts val="0"/>
              </a:spcAft>
            </a:pPr>
            <a:r>
              <a:rPr lang="pt-BR" sz="1400" b="0" i="0" noProof="0" dirty="0">
                <a:solidFill>
                  <a:srgbClr val="555C69"/>
                </a:solidFill>
                <a:latin typeface="Calibri"/>
              </a:rPr>
              <a:t>Métricas, ranking, testes de hipótese e dinâmica do GA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5642762"/>
            <a:ext cx="685800" cy="685800"/>
          </a:xfrm>
          <a:prstGeom prst="ellipse">
            <a:avLst/>
          </a:prstGeom>
          <a:solidFill>
            <a:srgbClr val="D9771E"/>
          </a:solidFill>
          <a:ln w="15875">
            <a:solidFill>
              <a:srgbClr val="D977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8100" bIns="38100" rtlCol="0" anchor="ctr"/>
          <a:lstStyle/>
          <a:p>
            <a:pPr algn="ctr">
              <a:spcAft>
                <a:spcPts val="100"/>
              </a:spcAft>
            </a:pPr>
            <a:r>
              <a:rPr lang="pt-BR" sz="2600" b="1" i="0" noProof="0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5685579"/>
            <a:ext cx="9966960" cy="60016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2000" b="1" i="0" noProof="0" dirty="0">
                <a:solidFill>
                  <a:srgbClr val="1F2A44"/>
                </a:solidFill>
                <a:latin typeface="Calibri"/>
              </a:rPr>
              <a:t>Conclusão</a:t>
            </a:r>
          </a:p>
          <a:p>
            <a:pPr algn="l">
              <a:spcAft>
                <a:spcPts val="0"/>
              </a:spcAft>
            </a:pPr>
            <a:r>
              <a:rPr lang="pt-BR" sz="1400" b="0" i="0" noProof="0" dirty="0">
                <a:solidFill>
                  <a:srgbClr val="555C69"/>
                </a:solidFill>
                <a:latin typeface="Calibri"/>
              </a:rPr>
              <a:t>O método atingiu o esperado? Balanço e possíveis trabalhos futuros</a:t>
            </a:r>
          </a:p>
        </p:txBody>
      </p:sp>
      <p:sp>
        <p:nvSpPr>
          <p:cNvPr id="16" name="Espaço Reservado para Número de Slide 7">
            <a:extLst>
              <a:ext uri="{FF2B5EF4-FFF2-40B4-BE49-F238E27FC236}">
                <a16:creationId xmlns:a16="http://schemas.microsoft.com/office/drawing/2014/main" id="{09A38339-0865-FF05-8524-9ACB84D59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8095" y="6492875"/>
            <a:ext cx="2133600" cy="365125"/>
          </a:xfrm>
        </p:spPr>
        <p:txBody>
          <a:bodyPr/>
          <a:lstStyle/>
          <a:p>
            <a:fld id="{C1FF6DA9-008F-8B48-92A6-B652298478BF}" type="slidenum">
              <a:rPr lang="pt-BR" noProof="0" smtClean="0"/>
              <a:t>2</a:t>
            </a:fld>
            <a:endParaRPr lang="pt-BR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D97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789920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pt-BR" sz="2800" b="1" i="0" noProof="0" dirty="0">
                <a:solidFill>
                  <a:srgbClr val="FFFFFF"/>
                </a:solidFill>
                <a:latin typeface="Calibri"/>
              </a:rPr>
              <a:t>Introdução &amp; Motivação</a:t>
            </a:r>
          </a:p>
          <a:p>
            <a:pPr algn="l">
              <a:spcAft>
                <a:spcPts val="0"/>
              </a:spcAft>
            </a:pPr>
            <a:r>
              <a:rPr lang="pt-BR" sz="1300" b="0" i="1" noProof="0" dirty="0">
                <a:solidFill>
                  <a:srgbClr val="DDE8F7"/>
                </a:solidFill>
                <a:latin typeface="Calibri"/>
              </a:rPr>
              <a:t>Problema de computação (sem considerar a aplicação)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91440"/>
            <a:ext cx="1371600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lang="pt-BR" sz="3000" b="1" i="0" noProof="0" dirty="0">
                <a:solidFill>
                  <a:srgbClr val="D9771E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375230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pt-BR" sz="1600" b="1" i="0" noProof="0" dirty="0">
                <a:solidFill>
                  <a:srgbClr val="2E5EAA"/>
                </a:solidFill>
                <a:latin typeface="Calibri"/>
              </a:rPr>
              <a:t>O problema</a:t>
            </a:r>
          </a:p>
          <a:p>
            <a:pPr algn="l">
              <a:spcAft>
                <a:spcPts val="400"/>
              </a:spcAft>
            </a:pPr>
            <a:r>
              <a:rPr lang="pt-BR" sz="1500" b="0" i="0" noProof="0" dirty="0">
                <a:solidFill>
                  <a:srgbClr val="222730"/>
                </a:solidFill>
                <a:latin typeface="Calibri"/>
              </a:rPr>
              <a:t>•  Previsão </a:t>
            </a:r>
            <a:r>
              <a:rPr lang="pt-BR" sz="1500" b="0" i="1" noProof="0" dirty="0" err="1">
                <a:solidFill>
                  <a:srgbClr val="222730"/>
                </a:solidFill>
                <a:latin typeface="Calibri"/>
              </a:rPr>
              <a:t>one</a:t>
            </a:r>
            <a:r>
              <a:rPr lang="pt-BR" sz="1500" b="0" i="1" noProof="0" dirty="0">
                <a:solidFill>
                  <a:srgbClr val="222730"/>
                </a:solidFill>
                <a:latin typeface="Calibri"/>
              </a:rPr>
              <a:t>-step-</a:t>
            </a:r>
            <a:r>
              <a:rPr lang="pt-BR" sz="1500" b="0" i="1" noProof="0" dirty="0" err="1">
                <a:solidFill>
                  <a:srgbClr val="222730"/>
                </a:solidFill>
                <a:latin typeface="Calibri"/>
              </a:rPr>
              <a:t>ahead</a:t>
            </a:r>
            <a:r>
              <a:rPr lang="pt-BR" sz="1500" b="0" i="0" noProof="0" dirty="0">
                <a:solidFill>
                  <a:srgbClr val="222730"/>
                </a:solidFill>
                <a:latin typeface="Calibri"/>
              </a:rPr>
              <a:t> de séries temporais </a:t>
            </a:r>
            <a:r>
              <a:rPr lang="pt-BR" sz="1500" b="0" i="0" noProof="0" dirty="0" err="1">
                <a:solidFill>
                  <a:srgbClr val="222730"/>
                </a:solidFill>
                <a:latin typeface="Calibri"/>
              </a:rPr>
              <a:t>univariadas</a:t>
            </a:r>
            <a:r>
              <a:rPr lang="pt-BR" sz="1500" b="0" i="0" noProof="0" dirty="0">
                <a:solidFill>
                  <a:srgbClr val="222730"/>
                </a:solidFill>
                <a:latin typeface="Calibri"/>
              </a:rPr>
              <a:t> a partir de janelas de </a:t>
            </a:r>
            <a:r>
              <a:rPr lang="pt-BR" sz="1500" b="0" i="0" noProof="0" dirty="0" err="1">
                <a:solidFill>
                  <a:srgbClr val="222730"/>
                </a:solidFill>
                <a:latin typeface="Calibri"/>
              </a:rPr>
              <a:t>lags</a:t>
            </a:r>
            <a:r>
              <a:rPr lang="pt-BR" sz="1500" b="0" i="0" noProof="0" dirty="0">
                <a:solidFill>
                  <a:srgbClr val="222730"/>
                </a:solidFill>
                <a:latin typeface="Calibri"/>
              </a:rPr>
              <a:t>: estimar yₜ a partir dos p valores anteriores [y₍ₜ₋ₚ₎ … y₍ₜ₋₁₎].</a:t>
            </a:r>
          </a:p>
          <a:p>
            <a:pPr algn="l">
              <a:spcAft>
                <a:spcPts val="400"/>
              </a:spcAft>
            </a:pPr>
            <a:r>
              <a:rPr lang="pt-BR" sz="1500" b="0" i="0" noProof="0" dirty="0">
                <a:solidFill>
                  <a:srgbClr val="222730"/>
                </a:solidFill>
                <a:latin typeface="Calibri"/>
              </a:rPr>
              <a:t>•  Desafio central: nenhum modelo único vence em todas as séries — o melhor muda por base (</a:t>
            </a:r>
            <a:r>
              <a:rPr lang="pt-BR" sz="1500" b="0" i="0" noProof="0" dirty="0" err="1">
                <a:solidFill>
                  <a:srgbClr val="222730"/>
                </a:solidFill>
                <a:latin typeface="Calibri"/>
              </a:rPr>
              <a:t>airlines→Adaline</a:t>
            </a:r>
            <a:r>
              <a:rPr lang="pt-BR" sz="1500" b="0" i="0" noProof="0" dirty="0">
                <a:solidFill>
                  <a:srgbClr val="222730"/>
                </a:solidFill>
                <a:latin typeface="Calibri"/>
              </a:rPr>
              <a:t>; </a:t>
            </a:r>
            <a:r>
              <a:rPr lang="pt-BR" sz="1500" b="0" i="0" noProof="0" dirty="0" err="1">
                <a:solidFill>
                  <a:srgbClr val="222730"/>
                </a:solidFill>
                <a:latin typeface="Calibri"/>
              </a:rPr>
              <a:t>lynx</a:t>
            </a:r>
            <a:r>
              <a:rPr lang="pt-BR" sz="1500" b="0" i="0" noProof="0" dirty="0">
                <a:solidFill>
                  <a:srgbClr val="222730"/>
                </a:solidFill>
                <a:latin typeface="Calibri"/>
              </a:rPr>
              <a:t> e </a:t>
            </a:r>
            <a:r>
              <a:rPr lang="pt-BR" sz="1500" b="0" i="0" noProof="0" dirty="0" err="1">
                <a:solidFill>
                  <a:srgbClr val="222730"/>
                </a:solidFill>
                <a:latin typeface="Calibri"/>
              </a:rPr>
              <a:t>coloradoRiver→ELM</a:t>
            </a:r>
            <a:r>
              <a:rPr lang="pt-BR" sz="1500" b="0" i="0" noProof="0" dirty="0">
                <a:solidFill>
                  <a:srgbClr val="222730"/>
                </a:solidFill>
                <a:latin typeface="Calibri"/>
              </a:rPr>
              <a:t>; </a:t>
            </a:r>
            <a:r>
              <a:rPr lang="pt-BR" sz="1500" b="0" i="0" noProof="0" dirty="0" err="1">
                <a:solidFill>
                  <a:srgbClr val="222730"/>
                </a:solidFill>
                <a:latin typeface="Calibri"/>
              </a:rPr>
              <a:t>melbmin→SCN</a:t>
            </a:r>
            <a:r>
              <a:rPr lang="pt-BR" sz="1500" b="0" i="0" noProof="0" dirty="0">
                <a:solidFill>
                  <a:srgbClr val="222730"/>
                </a:solidFill>
                <a:latin typeface="Calibri"/>
              </a:rPr>
              <a:t>; </a:t>
            </a:r>
            <a:r>
              <a:rPr lang="pt-BR" sz="1500" b="0" i="0" noProof="0" dirty="0" err="1">
                <a:solidFill>
                  <a:srgbClr val="222730"/>
                </a:solidFill>
                <a:latin typeface="Calibri"/>
              </a:rPr>
              <a:t>air_quality→MLP</a:t>
            </a:r>
            <a:r>
              <a:rPr lang="pt-BR" sz="1500" b="0" i="0" noProof="0" dirty="0">
                <a:solidFill>
                  <a:srgbClr val="222730"/>
                </a:solidFill>
                <a:latin typeface="Calibri"/>
              </a:rPr>
              <a:t>; </a:t>
            </a:r>
            <a:r>
              <a:rPr lang="pt-BR" sz="1500" b="0" i="0" noProof="0" dirty="0" err="1">
                <a:solidFill>
                  <a:srgbClr val="222730"/>
                </a:solidFill>
                <a:latin typeface="Calibri"/>
              </a:rPr>
              <a:t>appliances→Adaline</a:t>
            </a:r>
            <a:r>
              <a:rPr lang="pt-BR" sz="1500" b="0" i="0" noProof="0" dirty="0">
                <a:solidFill>
                  <a:srgbClr val="222730"/>
                </a:solidFill>
                <a:latin typeface="Calibri"/>
              </a:rPr>
              <a:t>); o KNN é consistentemente o pior.</a:t>
            </a:r>
          </a:p>
          <a:p>
            <a:pPr algn="l">
              <a:spcAft>
                <a:spcPts val="400"/>
              </a:spcAft>
            </a:pPr>
            <a:endParaRPr lang="pt-BR" sz="1500" b="0" i="0" noProof="0" dirty="0">
              <a:solidFill>
                <a:srgbClr val="222730"/>
              </a:solidFill>
              <a:latin typeface="Calibri"/>
            </a:endParaRPr>
          </a:p>
          <a:p>
            <a:pPr algn="l">
              <a:spcAft>
                <a:spcPts val="300"/>
              </a:spcAft>
            </a:pPr>
            <a:r>
              <a:rPr lang="pt-BR" sz="1600" b="1" i="0" noProof="0" dirty="0">
                <a:solidFill>
                  <a:srgbClr val="2E5EAA"/>
                </a:solidFill>
                <a:latin typeface="Calibri"/>
              </a:rPr>
              <a:t>Métodos da literatura para o mesmo fim</a:t>
            </a:r>
          </a:p>
          <a:p>
            <a:pPr algn="l">
              <a:spcAft>
                <a:spcPts val="400"/>
              </a:spcAft>
            </a:pPr>
            <a:r>
              <a:rPr lang="pt-BR" sz="1500" b="0" i="0" noProof="0" dirty="0">
                <a:solidFill>
                  <a:srgbClr val="222730"/>
                </a:solidFill>
                <a:latin typeface="Calibri"/>
              </a:rPr>
              <a:t>•  Estatísticos (AR/ARMA); redes neurais (MLP, RBF, ESN); híbridos por correção de erro; ensembles por média/mediana; e ensembles com pesos aprendidos por Algoritmo Genético (artigo de referência).</a:t>
            </a:r>
          </a:p>
          <a:p>
            <a:pPr algn="l">
              <a:spcAft>
                <a:spcPts val="400"/>
              </a:spcAft>
            </a:pPr>
            <a:endParaRPr lang="pt-BR" sz="1500" b="0" i="0" noProof="0" dirty="0">
              <a:solidFill>
                <a:srgbClr val="222730"/>
              </a:solidFill>
              <a:latin typeface="Calibri"/>
            </a:endParaRPr>
          </a:p>
          <a:p>
            <a:pPr algn="l">
              <a:spcAft>
                <a:spcPts val="300"/>
              </a:spcAft>
            </a:pPr>
            <a:r>
              <a:rPr lang="pt-BR" sz="1600" b="1" i="0" noProof="0" dirty="0">
                <a:solidFill>
                  <a:srgbClr val="2E5EAA"/>
                </a:solidFill>
                <a:latin typeface="Calibri"/>
              </a:rPr>
              <a:t>Solução proposta e por que é promissora</a:t>
            </a:r>
          </a:p>
          <a:p>
            <a:pPr algn="l">
              <a:spcAft>
                <a:spcPts val="400"/>
              </a:spcAft>
            </a:pPr>
            <a:r>
              <a:rPr lang="pt-BR" sz="1500" b="0" i="0" noProof="0" dirty="0">
                <a:solidFill>
                  <a:srgbClr val="222730"/>
                </a:solidFill>
                <a:latin typeface="Calibri"/>
              </a:rPr>
              <a:t>•  Combinar aprendizes heterogêneos com pesos aprendidos por GA no simplex (w ≥ 0, </a:t>
            </a:r>
            <a:r>
              <a:rPr lang="pt-BR" sz="1500" b="0" i="0" noProof="0" dirty="0" err="1">
                <a:solidFill>
                  <a:srgbClr val="222730"/>
                </a:solidFill>
                <a:latin typeface="Calibri"/>
              </a:rPr>
              <a:t>Σw</a:t>
            </a:r>
            <a:r>
              <a:rPr lang="pt-BR" sz="1500" b="0" i="0" noProof="0" dirty="0">
                <a:solidFill>
                  <a:srgbClr val="222730"/>
                </a:solidFill>
                <a:latin typeface="Calibri"/>
              </a:rPr>
              <a:t> = 1).</a:t>
            </a:r>
          </a:p>
          <a:p>
            <a:pPr algn="l">
              <a:spcAft>
                <a:spcPts val="400"/>
              </a:spcAft>
            </a:pPr>
            <a:r>
              <a:rPr lang="pt-BR" sz="1500" b="0" i="0" noProof="0" dirty="0">
                <a:solidFill>
                  <a:srgbClr val="222730"/>
                </a:solidFill>
                <a:latin typeface="Calibri"/>
              </a:rPr>
              <a:t>•  GA faz busca global sem gradiente → escapa de mínimos locais e lida com aprendizes heterogêneos; a combinação convexa reduz variância e o risco de escolher o modelo errado para cada série.</a:t>
            </a: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09A38339-0865-FF05-8524-9ACB84D59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8095" y="6492875"/>
            <a:ext cx="2133600" cy="365125"/>
          </a:xfrm>
        </p:spPr>
        <p:txBody>
          <a:bodyPr/>
          <a:lstStyle/>
          <a:p>
            <a:fld id="{C1FF6DA9-008F-8B48-92A6-B652298478BF}" type="slidenum">
              <a:rPr lang="pt-BR" noProof="0" smtClean="0"/>
              <a:t>3</a:t>
            </a:fld>
            <a:endParaRPr lang="pt-BR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D97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789920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pt-BR" sz="2800" b="1" i="0" noProof="0" dirty="0">
                <a:solidFill>
                  <a:srgbClr val="FFFFFF"/>
                </a:solidFill>
                <a:latin typeface="Calibri"/>
              </a:rPr>
              <a:t>Método Proposto — Diagrama</a:t>
            </a:r>
          </a:p>
          <a:p>
            <a:pPr algn="l">
              <a:spcAft>
                <a:spcPts val="0"/>
              </a:spcAft>
            </a:pPr>
            <a:r>
              <a:rPr lang="pt-BR" sz="1300" b="0" i="1" noProof="0" dirty="0">
                <a:solidFill>
                  <a:srgbClr val="DDE8F7"/>
                </a:solidFill>
                <a:latin typeface="Calibri"/>
              </a:rPr>
              <a:t>Pipeline híbrido: modelos base → seleção top-4 → ensemble por 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91440"/>
            <a:ext cx="1371600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lang="pt-BR" sz="3000" b="1" i="0" noProof="0" dirty="0">
                <a:solidFill>
                  <a:srgbClr val="D9771E"/>
                </a:solidFill>
                <a:latin typeface="Calibr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7360920" cy="654449"/>
          </a:xfrm>
          <a:prstGeom prst="roundRect">
            <a:avLst/>
          </a:prstGeom>
          <a:solidFill>
            <a:srgbClr val="ECEEF1"/>
          </a:solidFill>
          <a:ln w="15875">
            <a:solidFill>
              <a:srgbClr val="5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8100" bIns="38100" rtlCol="0" anchor="ctr">
            <a:normAutofit/>
          </a:bodyPr>
          <a:lstStyle/>
          <a:p>
            <a:pPr algn="ctr">
              <a:spcAft>
                <a:spcPts val="100"/>
              </a:spcAft>
            </a:pPr>
            <a:r>
              <a:rPr lang="pt-BR" sz="1300" b="1" i="0" noProof="0" dirty="0">
                <a:solidFill>
                  <a:srgbClr val="222730"/>
                </a:solidFill>
                <a:latin typeface="Calibri"/>
              </a:rPr>
              <a:t>① Série </a:t>
            </a:r>
            <a:r>
              <a:rPr lang="pt-BR" sz="1300" b="1" i="0" noProof="0" dirty="0" err="1">
                <a:solidFill>
                  <a:srgbClr val="222730"/>
                </a:solidFill>
                <a:latin typeface="Calibri"/>
              </a:rPr>
              <a:t>univariada</a:t>
            </a:r>
            <a:r>
              <a:rPr lang="pt-BR" sz="1300" b="1" i="0" noProof="0" dirty="0">
                <a:solidFill>
                  <a:srgbClr val="222730"/>
                </a:solidFill>
                <a:latin typeface="Calibri"/>
              </a:rPr>
              <a:t>  →  janela de </a:t>
            </a:r>
            <a:r>
              <a:rPr lang="pt-BR" sz="1300" b="1" i="0" noProof="0" dirty="0" err="1">
                <a:solidFill>
                  <a:srgbClr val="222730"/>
                </a:solidFill>
                <a:latin typeface="Calibri"/>
              </a:rPr>
              <a:t>lags</a:t>
            </a:r>
            <a:r>
              <a:rPr lang="pt-BR" sz="1300" b="1" i="0" noProof="0" dirty="0">
                <a:solidFill>
                  <a:srgbClr val="222730"/>
                </a:solidFill>
                <a:latin typeface="Calibri"/>
              </a:rPr>
              <a:t> (</a:t>
            </a:r>
            <a:r>
              <a:rPr lang="pt-BR" sz="1300" b="1" i="0" noProof="0" dirty="0" err="1">
                <a:solidFill>
                  <a:srgbClr val="222730"/>
                </a:solidFill>
                <a:latin typeface="Calibri"/>
              </a:rPr>
              <a:t>n_lags</a:t>
            </a:r>
            <a:r>
              <a:rPr lang="pt-BR" sz="1300" b="1" i="0" noProof="0" dirty="0">
                <a:solidFill>
                  <a:srgbClr val="222730"/>
                </a:solidFill>
                <a:latin typeface="Calibri"/>
              </a:rPr>
              <a:t> = 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71185"/>
            <a:ext cx="7360920" cy="654449"/>
          </a:xfrm>
          <a:prstGeom prst="roundRect">
            <a:avLst/>
          </a:prstGeom>
          <a:solidFill>
            <a:srgbClr val="ECEEF1"/>
          </a:solidFill>
          <a:ln w="15875">
            <a:solidFill>
              <a:srgbClr val="5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8100" bIns="38100" rtlCol="0" anchor="ctr">
            <a:normAutofit/>
          </a:bodyPr>
          <a:lstStyle/>
          <a:p>
            <a:pPr algn="ctr">
              <a:spcAft>
                <a:spcPts val="100"/>
              </a:spcAft>
            </a:pPr>
            <a:r>
              <a:rPr lang="pt-BR" sz="1300" b="1" i="0" noProof="0" dirty="0">
                <a:solidFill>
                  <a:srgbClr val="222730"/>
                </a:solidFill>
                <a:latin typeface="Calibri"/>
              </a:rPr>
              <a:t>② Split temporal 60/20/20 (sem </a:t>
            </a:r>
            <a:r>
              <a:rPr lang="pt-BR" sz="1300" b="1" i="0" noProof="0" dirty="0" err="1">
                <a:solidFill>
                  <a:srgbClr val="222730"/>
                </a:solidFill>
                <a:latin typeface="Calibri"/>
              </a:rPr>
              <a:t>shuffle</a:t>
            </a:r>
            <a:r>
              <a:rPr lang="pt-BR" sz="1300" b="1" i="0" noProof="0" dirty="0">
                <a:solidFill>
                  <a:srgbClr val="222730"/>
                </a:solidFill>
                <a:latin typeface="Calibri"/>
              </a:rPr>
              <a:t>)  ·  Min-Max só no treino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753650"/>
            <a:ext cx="7360920" cy="654449"/>
          </a:xfrm>
          <a:prstGeom prst="roundRect">
            <a:avLst/>
          </a:prstGeom>
          <a:solidFill>
            <a:srgbClr val="DDE8F7"/>
          </a:solidFill>
          <a:ln w="15875">
            <a:solidFill>
              <a:srgbClr val="2E5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8100" bIns="38100" rtlCol="0" anchor="ctr">
            <a:normAutofit/>
          </a:bodyPr>
          <a:lstStyle/>
          <a:p>
            <a:pPr algn="ctr">
              <a:spcAft>
                <a:spcPts val="100"/>
              </a:spcAft>
            </a:pPr>
            <a:r>
              <a:rPr lang="pt-BR" sz="1300" b="1" i="0" noProof="0" dirty="0">
                <a:solidFill>
                  <a:srgbClr val="222730"/>
                </a:solidFill>
                <a:latin typeface="Calibri"/>
              </a:rPr>
              <a:t>③ 6 modelos base — grid </a:t>
            </a:r>
            <a:r>
              <a:rPr lang="pt-BR" sz="1300" b="1" i="0" noProof="0" dirty="0" err="1">
                <a:solidFill>
                  <a:srgbClr val="222730"/>
                </a:solidFill>
                <a:latin typeface="Calibri"/>
              </a:rPr>
              <a:t>search</a:t>
            </a:r>
            <a:r>
              <a:rPr lang="pt-BR" sz="1300" b="1" i="0" noProof="0" dirty="0">
                <a:solidFill>
                  <a:srgbClr val="222730"/>
                </a:solidFill>
                <a:latin typeface="Calibri"/>
              </a:rPr>
              <a:t> pelo erro de validação</a:t>
            </a:r>
          </a:p>
          <a:p>
            <a:pPr algn="ctr">
              <a:spcAft>
                <a:spcPts val="100"/>
              </a:spcAft>
            </a:pPr>
            <a:r>
              <a:rPr lang="pt-BR" sz="1200" b="0" i="0" noProof="0" dirty="0">
                <a:solidFill>
                  <a:srgbClr val="222730"/>
                </a:solidFill>
                <a:latin typeface="Calibri"/>
              </a:rPr>
              <a:t>MLP · SCN · ELM · SVR · </a:t>
            </a:r>
            <a:r>
              <a:rPr lang="pt-BR" sz="1200" b="0" i="0" noProof="0" dirty="0" err="1">
                <a:solidFill>
                  <a:srgbClr val="222730"/>
                </a:solidFill>
                <a:latin typeface="Calibri"/>
              </a:rPr>
              <a:t>Adaline</a:t>
            </a:r>
            <a:r>
              <a:rPr lang="pt-BR" sz="1200" b="0" i="0" noProof="0" dirty="0">
                <a:solidFill>
                  <a:srgbClr val="222730"/>
                </a:solidFill>
                <a:latin typeface="Calibri"/>
              </a:rPr>
              <a:t> · KNN   (vários do zero)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536115"/>
            <a:ext cx="7360920" cy="654449"/>
          </a:xfrm>
          <a:prstGeom prst="roundRect">
            <a:avLst/>
          </a:prstGeom>
          <a:solidFill>
            <a:srgbClr val="FBE7CF"/>
          </a:solidFill>
          <a:ln w="25400">
            <a:solidFill>
              <a:srgbClr val="D977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8100" bIns="38100" rtlCol="0" anchor="ctr">
            <a:normAutofit/>
          </a:bodyPr>
          <a:lstStyle/>
          <a:p>
            <a:pPr algn="ctr">
              <a:spcAft>
                <a:spcPts val="100"/>
              </a:spcAft>
            </a:pPr>
            <a:r>
              <a:rPr lang="pt-BR" sz="1300" b="1" i="0" noProof="0" dirty="0">
                <a:solidFill>
                  <a:srgbClr val="222730"/>
                </a:solidFill>
                <a:latin typeface="Calibri"/>
              </a:rPr>
              <a:t>★ ④ Ranking por erro de validação  →  TOP-4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318580"/>
            <a:ext cx="7360920" cy="654449"/>
          </a:xfrm>
          <a:prstGeom prst="roundRect">
            <a:avLst/>
          </a:prstGeom>
          <a:solidFill>
            <a:srgbClr val="ECEEF1"/>
          </a:solidFill>
          <a:ln w="15875">
            <a:solidFill>
              <a:srgbClr val="5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8100" bIns="38100" rtlCol="0" anchor="ctr">
            <a:normAutofit/>
          </a:bodyPr>
          <a:lstStyle/>
          <a:p>
            <a:pPr algn="ctr">
              <a:spcAft>
                <a:spcPts val="100"/>
              </a:spcAft>
            </a:pPr>
            <a:r>
              <a:rPr lang="pt-BR" sz="1300" b="1" i="0" noProof="0" dirty="0">
                <a:solidFill>
                  <a:srgbClr val="222730"/>
                </a:solidFill>
                <a:latin typeface="Calibri"/>
              </a:rPr>
              <a:t>⑤ Matrizes de previsão:  </a:t>
            </a:r>
            <a:r>
              <a:rPr lang="pt-BR" sz="1300" b="1" i="0" noProof="0" dirty="0" err="1">
                <a:solidFill>
                  <a:srgbClr val="222730"/>
                </a:solidFill>
                <a:latin typeface="Calibri"/>
              </a:rPr>
              <a:t>P_v</a:t>
            </a:r>
            <a:r>
              <a:rPr lang="pt-BR" sz="1300" b="1" i="0" noProof="0" dirty="0">
                <a:solidFill>
                  <a:srgbClr val="222730"/>
                </a:solidFill>
                <a:latin typeface="Calibri"/>
              </a:rPr>
              <a:t> (validação)  ·  P (teste)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101045"/>
            <a:ext cx="7360920" cy="654449"/>
          </a:xfrm>
          <a:prstGeom prst="roundRect">
            <a:avLst/>
          </a:prstGeom>
          <a:solidFill>
            <a:srgbClr val="FBE7CF"/>
          </a:solidFill>
          <a:ln w="25400">
            <a:solidFill>
              <a:srgbClr val="D977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8100" bIns="38100" rtlCol="0" anchor="ctr">
            <a:normAutofit/>
          </a:bodyPr>
          <a:lstStyle/>
          <a:p>
            <a:pPr algn="ctr">
              <a:spcAft>
                <a:spcPts val="100"/>
              </a:spcAft>
            </a:pPr>
            <a:r>
              <a:rPr lang="pt-BR" sz="1300" b="1" i="0" noProof="0" dirty="0">
                <a:solidFill>
                  <a:srgbClr val="222730"/>
                </a:solidFill>
                <a:latin typeface="Calibri"/>
              </a:rPr>
              <a:t>★ ⑥ GA nos pesos — simplex (w≥0, </a:t>
            </a:r>
            <a:r>
              <a:rPr lang="pt-BR" sz="1300" b="1" i="0" noProof="0" dirty="0" err="1">
                <a:solidFill>
                  <a:srgbClr val="222730"/>
                </a:solidFill>
                <a:latin typeface="Calibri"/>
              </a:rPr>
              <a:t>Σw</a:t>
            </a:r>
            <a:r>
              <a:rPr lang="pt-BR" sz="1300" b="1" i="0" noProof="0" dirty="0">
                <a:solidFill>
                  <a:srgbClr val="222730"/>
                </a:solidFill>
                <a:latin typeface="Calibri"/>
              </a:rPr>
              <a:t>=1), fitness = 1/MSE</a:t>
            </a:r>
          </a:p>
          <a:p>
            <a:pPr algn="ctr">
              <a:spcAft>
                <a:spcPts val="100"/>
              </a:spcAft>
            </a:pPr>
            <a:r>
              <a:rPr lang="pt-BR" sz="1200" b="0" i="0" noProof="0" dirty="0">
                <a:solidFill>
                  <a:srgbClr val="222730"/>
                </a:solidFill>
                <a:latin typeface="Calibri"/>
              </a:rPr>
              <a:t>torneio · crossover 1-ponto · mutação 0,1 · 30 execuções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883510"/>
            <a:ext cx="7360920" cy="654449"/>
          </a:xfrm>
          <a:prstGeom prst="roundRect">
            <a:avLst/>
          </a:prstGeom>
          <a:solidFill>
            <a:srgbClr val="DDE8F7"/>
          </a:solidFill>
          <a:ln w="15875">
            <a:solidFill>
              <a:srgbClr val="2E5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8100" bIns="38100" rtlCol="0" anchor="ctr">
            <a:normAutofit/>
          </a:bodyPr>
          <a:lstStyle/>
          <a:p>
            <a:pPr algn="ctr">
              <a:spcAft>
                <a:spcPts val="100"/>
              </a:spcAft>
            </a:pPr>
            <a:r>
              <a:rPr lang="pt-BR" sz="1300" b="1" i="0" noProof="0" dirty="0">
                <a:solidFill>
                  <a:srgbClr val="222730"/>
                </a:solidFill>
                <a:latin typeface="Calibri"/>
              </a:rPr>
              <a:t>⑦ Saída:  melhor w no teste  →  ŷ = P · 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83380" y="1843169"/>
            <a:ext cx="0" cy="128016"/>
          </a:xfrm>
          <a:prstGeom prst="bentConnector3">
            <a:avLst/>
          </a:prstGeom>
          <a:ln w="22225">
            <a:solidFill>
              <a:srgbClr val="555C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183380" y="2625634"/>
            <a:ext cx="0" cy="128016"/>
          </a:xfrm>
          <a:prstGeom prst="bentConnector3">
            <a:avLst/>
          </a:prstGeom>
          <a:ln w="22225">
            <a:solidFill>
              <a:srgbClr val="555C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183380" y="3408099"/>
            <a:ext cx="0" cy="128016"/>
          </a:xfrm>
          <a:prstGeom prst="bentConnector3">
            <a:avLst/>
          </a:prstGeom>
          <a:ln w="22225">
            <a:solidFill>
              <a:srgbClr val="555C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183380" y="4190564"/>
            <a:ext cx="0" cy="128016"/>
          </a:xfrm>
          <a:prstGeom prst="bentConnector3">
            <a:avLst/>
          </a:prstGeom>
          <a:ln w="22225">
            <a:solidFill>
              <a:srgbClr val="555C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183380" y="4973029"/>
            <a:ext cx="0" cy="128016"/>
          </a:xfrm>
          <a:prstGeom prst="bentConnector3">
            <a:avLst/>
          </a:prstGeom>
          <a:ln w="22225">
            <a:solidFill>
              <a:srgbClr val="555C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183380" y="5755494"/>
            <a:ext cx="0" cy="128016"/>
          </a:xfrm>
          <a:prstGeom prst="bentConnector3">
            <a:avLst/>
          </a:prstGeom>
          <a:ln w="22225">
            <a:solidFill>
              <a:srgbClr val="555C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138160" y="1188720"/>
            <a:ext cx="3657600" cy="5349240"/>
          </a:xfrm>
          <a:prstGeom prst="roundRect">
            <a:avLst/>
          </a:prstGeom>
          <a:solidFill>
            <a:srgbClr val="FBE7CF"/>
          </a:solidFill>
          <a:ln w="25400">
            <a:solidFill>
              <a:srgbClr val="D977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38100" rtlCol="0" anchor="t">
            <a:normAutofit/>
          </a:bodyPr>
          <a:lstStyle/>
          <a:p>
            <a:pPr algn="l">
              <a:spcAft>
                <a:spcPts val="800"/>
              </a:spcAft>
            </a:pPr>
            <a:r>
              <a:rPr lang="pt-BR" sz="1600" b="1" i="0" noProof="0" dirty="0">
                <a:solidFill>
                  <a:srgbClr val="D9771E"/>
                </a:solidFill>
                <a:latin typeface="Calibri"/>
              </a:rPr>
              <a:t>★ Contribuições (vs. artigo)</a:t>
            </a:r>
          </a:p>
          <a:p>
            <a:pPr algn="l">
              <a:spcAft>
                <a:spcPts val="100"/>
              </a:spcAft>
            </a:pPr>
            <a:r>
              <a:rPr lang="pt-BR" sz="1350" b="1" i="0" noProof="0" dirty="0">
                <a:solidFill>
                  <a:srgbClr val="222730"/>
                </a:solidFill>
                <a:latin typeface="Calibri"/>
              </a:rPr>
              <a:t>(i) Seleção TOP-4 antes do GA.</a:t>
            </a:r>
          </a:p>
          <a:p>
            <a:pPr algn="l">
              <a:spcAft>
                <a:spcPts val="1000"/>
              </a:spcAft>
            </a:pPr>
            <a:r>
              <a:rPr lang="pt-BR" sz="1200" b="0" i="0" noProof="0" dirty="0">
                <a:solidFill>
                  <a:srgbClr val="555C69"/>
                </a:solidFill>
                <a:latin typeface="Calibri"/>
              </a:rPr>
              <a:t>O artigo combina todos os modelos; escolher os 4 melhores por erro de validação reduz a busca e remove aprendizes fracos.</a:t>
            </a:r>
          </a:p>
          <a:p>
            <a:pPr algn="l">
              <a:spcAft>
                <a:spcPts val="100"/>
              </a:spcAft>
            </a:pPr>
            <a:r>
              <a:rPr lang="pt-BR" sz="1350" b="1" i="0" noProof="0" dirty="0">
                <a:solidFill>
                  <a:srgbClr val="222730"/>
                </a:solidFill>
                <a:latin typeface="Calibri"/>
              </a:rPr>
              <a:t>(</a:t>
            </a:r>
            <a:r>
              <a:rPr lang="pt-BR" sz="1350" b="1" i="0" noProof="0" dirty="0" err="1">
                <a:solidFill>
                  <a:srgbClr val="222730"/>
                </a:solidFill>
                <a:latin typeface="Calibri"/>
              </a:rPr>
              <a:t>ii</a:t>
            </a:r>
            <a:r>
              <a:rPr lang="pt-BR" sz="1350" b="1" i="0" noProof="0" dirty="0">
                <a:solidFill>
                  <a:srgbClr val="222730"/>
                </a:solidFill>
                <a:latin typeface="Calibri"/>
              </a:rPr>
              <a:t>) Mudança de domínio e de bases.</a:t>
            </a:r>
          </a:p>
          <a:p>
            <a:pPr algn="l">
              <a:spcAft>
                <a:spcPts val="1000"/>
              </a:spcAft>
            </a:pPr>
            <a:r>
              <a:rPr lang="pt-BR" sz="1200" b="0" i="0" noProof="0" dirty="0">
                <a:solidFill>
                  <a:srgbClr val="555C69"/>
                </a:solidFill>
                <a:latin typeface="Calibri"/>
              </a:rPr>
              <a:t>Do vento (artigo) para séries clássicas + bases UCI, com pool heterogêneo implementado do zero (</a:t>
            </a:r>
            <a:r>
              <a:rPr lang="pt-BR" sz="1200" b="0" i="0" noProof="0" dirty="0" err="1">
                <a:solidFill>
                  <a:srgbClr val="555C69"/>
                </a:solidFill>
                <a:latin typeface="Calibri"/>
              </a:rPr>
              <a:t>Adaline</a:t>
            </a:r>
            <a:r>
              <a:rPr lang="pt-BR" sz="1200" b="0" i="0" noProof="0" dirty="0">
                <a:solidFill>
                  <a:srgbClr val="555C69"/>
                </a:solidFill>
                <a:latin typeface="Calibri"/>
              </a:rPr>
              <a:t>, ELM, SCN, KNN) — atende “não só </a:t>
            </a:r>
            <a:r>
              <a:rPr lang="pt-BR" sz="1200" b="0" i="0" noProof="0" dirty="0" err="1">
                <a:solidFill>
                  <a:srgbClr val="555C69"/>
                </a:solidFill>
                <a:latin typeface="Calibri"/>
              </a:rPr>
              <a:t>sklearn</a:t>
            </a:r>
            <a:r>
              <a:rPr lang="pt-BR" sz="1200" b="0" i="0" noProof="0" dirty="0">
                <a:solidFill>
                  <a:srgbClr val="555C69"/>
                </a:solidFill>
                <a:latin typeface="Calibri"/>
              </a:rPr>
              <a:t>”.</a:t>
            </a:r>
          </a:p>
          <a:p>
            <a:pPr algn="l">
              <a:spcAft>
                <a:spcPts val="400"/>
              </a:spcAft>
            </a:pPr>
            <a:r>
              <a:rPr lang="pt-BR" sz="1200" b="1" i="1" noProof="0" dirty="0">
                <a:solidFill>
                  <a:srgbClr val="2E5EAA"/>
                </a:solidFill>
                <a:latin typeface="Calibri"/>
              </a:rPr>
              <a:t>Sem vazamento: GA aprende w na validação (</a:t>
            </a:r>
            <a:r>
              <a:rPr lang="pt-BR" sz="1200" b="1" i="1" noProof="0" dirty="0" err="1">
                <a:solidFill>
                  <a:srgbClr val="2E5EAA"/>
                </a:solidFill>
                <a:latin typeface="Calibri"/>
              </a:rPr>
              <a:t>P_v</a:t>
            </a:r>
            <a:r>
              <a:rPr lang="pt-BR" sz="1200" b="1" i="1" noProof="0" dirty="0">
                <a:solidFill>
                  <a:srgbClr val="2E5EAA"/>
                </a:solidFill>
                <a:latin typeface="Calibri"/>
              </a:rPr>
              <a:t>) e só então aplica no teste (P).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7863840" y="3863339"/>
            <a:ext cx="274320" cy="0"/>
          </a:xfrm>
          <a:prstGeom prst="bentConnector3">
            <a:avLst/>
          </a:prstGeom>
          <a:ln w="15875"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7863840" y="5428269"/>
            <a:ext cx="274320" cy="0"/>
          </a:xfrm>
          <a:prstGeom prst="bentConnector3">
            <a:avLst/>
          </a:prstGeom>
          <a:ln w="15875"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spaço Reservado para Número de Slide 22">
            <a:extLst>
              <a:ext uri="{FF2B5EF4-FFF2-40B4-BE49-F238E27FC236}">
                <a16:creationId xmlns:a16="http://schemas.microsoft.com/office/drawing/2014/main" id="{A92F036E-9853-130E-1EF5-128F2470C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8095" y="6492875"/>
            <a:ext cx="2133600" cy="365125"/>
          </a:xfrm>
        </p:spPr>
        <p:txBody>
          <a:bodyPr/>
          <a:lstStyle/>
          <a:p>
            <a:fld id="{C1FF6DA9-008F-8B48-92A6-B652298478BF}" type="slidenum">
              <a:rPr lang="pt-BR" noProof="0" smtClean="0"/>
              <a:t>4</a:t>
            </a:fld>
            <a:endParaRPr lang="pt-BR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D97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789920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pt-BR" sz="2800" b="1" i="0" noProof="0" dirty="0">
                <a:solidFill>
                  <a:srgbClr val="FFFFFF"/>
                </a:solidFill>
                <a:latin typeface="Calibri"/>
              </a:rPr>
              <a:t>Método Proposto — Como Funciona</a:t>
            </a:r>
          </a:p>
          <a:p>
            <a:pPr algn="l">
              <a:spcAft>
                <a:spcPts val="0"/>
              </a:spcAft>
            </a:pPr>
            <a:r>
              <a:rPr lang="pt-BR" sz="1300" b="0" i="1" noProof="0" dirty="0">
                <a:solidFill>
                  <a:srgbClr val="DDE8F7"/>
                </a:solidFill>
                <a:latin typeface="Calibri"/>
              </a:rPr>
              <a:t>Explicação do pipeline e das contribuições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91440"/>
            <a:ext cx="1371600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lang="pt-BR" sz="3000" b="1" i="0" noProof="0" dirty="0">
                <a:solidFill>
                  <a:srgbClr val="D9771E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360611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pt-BR" sz="1600" b="1" i="0" noProof="0" dirty="0">
                <a:solidFill>
                  <a:srgbClr val="2E5EAA"/>
                </a:solidFill>
                <a:latin typeface="Calibri"/>
              </a:rPr>
              <a:t>Do modelo base ao ensemble</a:t>
            </a:r>
          </a:p>
          <a:p>
            <a:pPr algn="l">
              <a:spcAft>
                <a:spcPts val="400"/>
              </a:spcAft>
            </a:pPr>
            <a:r>
              <a:rPr lang="pt-BR" sz="1450" b="0" i="0" noProof="0" dirty="0">
                <a:solidFill>
                  <a:srgbClr val="222730"/>
                </a:solidFill>
                <a:latin typeface="Calibri"/>
              </a:rPr>
              <a:t>•  Cada modelo base faz grid </a:t>
            </a:r>
            <a:r>
              <a:rPr lang="pt-BR" sz="1450" b="0" i="0" noProof="0" dirty="0" err="1">
                <a:solidFill>
                  <a:srgbClr val="222730"/>
                </a:solidFill>
                <a:latin typeface="Calibri"/>
              </a:rPr>
              <a:t>search</a:t>
            </a:r>
            <a:r>
              <a:rPr lang="pt-BR" sz="1450" b="0" i="0" noProof="0" dirty="0">
                <a:solidFill>
                  <a:srgbClr val="222730"/>
                </a:solidFill>
                <a:latin typeface="Calibri"/>
              </a:rPr>
              <a:t> e é escolhido pelo menor erro na validação (</a:t>
            </a:r>
            <a:r>
              <a:rPr lang="pt-BR" sz="1450" b="0" i="0" noProof="0" dirty="0" err="1">
                <a:solidFill>
                  <a:srgbClr val="222730"/>
                </a:solidFill>
                <a:latin typeface="Calibri"/>
              </a:rPr>
              <a:t>BaseModel.update_best_model</a:t>
            </a:r>
            <a:r>
              <a:rPr lang="pt-BR" sz="1450" b="0" i="0" noProof="0" dirty="0">
                <a:solidFill>
                  <a:srgbClr val="222730"/>
                </a:solidFill>
                <a:latin typeface="Calibri"/>
              </a:rPr>
              <a:t>); previsões em unidades originais (</a:t>
            </a:r>
            <a:r>
              <a:rPr lang="pt-BR" sz="1450" b="0" i="0" noProof="0" dirty="0" err="1">
                <a:solidFill>
                  <a:srgbClr val="222730"/>
                </a:solidFill>
                <a:latin typeface="Calibri"/>
              </a:rPr>
              <a:t>denorm</a:t>
            </a:r>
            <a:r>
              <a:rPr lang="pt-BR" sz="1450" b="0" i="0" noProof="0" dirty="0">
                <a:solidFill>
                  <a:srgbClr val="222730"/>
                </a:solidFill>
                <a:latin typeface="Calibri"/>
              </a:rPr>
              <a:t>).</a:t>
            </a:r>
          </a:p>
          <a:p>
            <a:pPr algn="l">
              <a:spcAft>
                <a:spcPts val="400"/>
              </a:spcAft>
            </a:pPr>
            <a:r>
              <a:rPr lang="pt-BR" sz="1450" b="0" i="0" noProof="0" dirty="0">
                <a:solidFill>
                  <a:srgbClr val="222730"/>
                </a:solidFill>
                <a:latin typeface="Calibri"/>
              </a:rPr>
              <a:t>•  Os 4 melhores por erro de validação formam o pool do ensemble — matrizes </a:t>
            </a:r>
            <a:r>
              <a:rPr lang="pt-BR" sz="1450" b="0" i="0" noProof="0" dirty="0" err="1">
                <a:solidFill>
                  <a:srgbClr val="222730"/>
                </a:solidFill>
                <a:latin typeface="Calibri"/>
              </a:rPr>
              <a:t>P_v</a:t>
            </a:r>
            <a:r>
              <a:rPr lang="pt-BR" sz="1450" b="0" i="0" noProof="0" dirty="0">
                <a:solidFill>
                  <a:srgbClr val="222730"/>
                </a:solidFill>
                <a:latin typeface="Calibri"/>
              </a:rPr>
              <a:t> (previsões de validação) e P (previsões de teste).</a:t>
            </a:r>
          </a:p>
          <a:p>
            <a:pPr algn="l">
              <a:spcAft>
                <a:spcPts val="400"/>
              </a:spcAft>
            </a:pPr>
            <a:r>
              <a:rPr lang="pt-BR" sz="1450" b="0" i="0" noProof="0" dirty="0">
                <a:solidFill>
                  <a:srgbClr val="222730"/>
                </a:solidFill>
                <a:latin typeface="Calibri"/>
              </a:rPr>
              <a:t>•  O GA busca pesos w no simplex (w ≥ 0, </a:t>
            </a:r>
            <a:r>
              <a:rPr lang="pt-BR" sz="1450" b="0" i="0" noProof="0" dirty="0" err="1">
                <a:solidFill>
                  <a:srgbClr val="222730"/>
                </a:solidFill>
                <a:latin typeface="Calibri"/>
              </a:rPr>
              <a:t>Σw</a:t>
            </a:r>
            <a:r>
              <a:rPr lang="pt-BR" sz="1450" b="0" i="0" noProof="0" dirty="0">
                <a:solidFill>
                  <a:srgbClr val="222730"/>
                </a:solidFill>
                <a:latin typeface="Calibri"/>
              </a:rPr>
              <a:t> = 1) que minimizam o MSE na validação (fitness = 1/MSE): seleção por torneio, crossover de 1 ponto, mutação (0,1) e </a:t>
            </a:r>
            <a:r>
              <a:rPr lang="pt-BR" sz="1450" b="0" i="0" noProof="0" dirty="0" err="1">
                <a:solidFill>
                  <a:srgbClr val="222730"/>
                </a:solidFill>
                <a:latin typeface="Calibri"/>
              </a:rPr>
              <a:t>renormalização</a:t>
            </a:r>
            <a:r>
              <a:rPr lang="pt-BR" sz="1450" b="0" i="0" noProof="0" dirty="0">
                <a:solidFill>
                  <a:srgbClr val="222730"/>
                </a:solidFill>
                <a:latin typeface="Calibri"/>
              </a:rPr>
              <a:t> a cada geração.</a:t>
            </a:r>
          </a:p>
          <a:p>
            <a:pPr algn="l">
              <a:spcAft>
                <a:spcPts val="400"/>
              </a:spcAft>
            </a:pPr>
            <a:r>
              <a:rPr lang="pt-BR" sz="1450" b="0" i="0" noProof="0" dirty="0">
                <a:solidFill>
                  <a:srgbClr val="222730"/>
                </a:solidFill>
                <a:latin typeface="Calibri"/>
              </a:rPr>
              <a:t>•  São 30 execuções do GA (distribuição de soluções); o melhor w é aplicado ao teste: ŷ = P · w. Baseline de comparação: ensemble de média (pesos iguais no mesmo pool top-4).</a:t>
            </a:r>
          </a:p>
          <a:p>
            <a:pPr algn="l">
              <a:spcAft>
                <a:spcPts val="400"/>
              </a:spcAft>
            </a:pPr>
            <a:endParaRPr lang="pt-BR" sz="1450" b="0" i="0" noProof="0" dirty="0">
              <a:solidFill>
                <a:srgbClr val="222730"/>
              </a:solidFill>
              <a:latin typeface="Calibri"/>
            </a:endParaRPr>
          </a:p>
          <a:p>
            <a:pPr algn="l">
              <a:spcAft>
                <a:spcPts val="300"/>
              </a:spcAft>
            </a:pPr>
            <a:r>
              <a:rPr lang="pt-BR" sz="1600" b="1" i="0" noProof="0" dirty="0">
                <a:solidFill>
                  <a:srgbClr val="D9771E"/>
                </a:solidFill>
                <a:latin typeface="Calibri"/>
              </a:rPr>
              <a:t>Por que estas escolhas</a:t>
            </a:r>
          </a:p>
          <a:p>
            <a:pPr algn="l">
              <a:spcAft>
                <a:spcPts val="400"/>
              </a:spcAft>
            </a:pPr>
            <a:r>
              <a:rPr lang="pt-BR" sz="1450" b="0" i="0" noProof="0" dirty="0">
                <a:solidFill>
                  <a:srgbClr val="222730"/>
                </a:solidFill>
                <a:latin typeface="Calibri"/>
              </a:rPr>
              <a:t>•  Seleção TOP-4 antes do GA (contribuição 1): reduz a dimensão do espaço de busca e descarta aprendizes fracos, ao contrário do artigo que combina todos os modelos.</a:t>
            </a:r>
          </a:p>
          <a:p>
            <a:pPr algn="l">
              <a:spcAft>
                <a:spcPts val="400"/>
              </a:spcAft>
            </a:pPr>
            <a:r>
              <a:rPr lang="pt-BR" sz="1450" b="0" i="0" noProof="0" dirty="0">
                <a:solidFill>
                  <a:srgbClr val="222730"/>
                </a:solidFill>
                <a:latin typeface="Calibri"/>
              </a:rPr>
              <a:t>•  Mudança de domínio + pool heterogêneo do zero (contribuição 2): testa a robustez do ensemble fora do domínio original (vento) e atende ao requisito de não usar apenas </a:t>
            </a:r>
            <a:r>
              <a:rPr lang="pt-BR" sz="1450" b="0" i="0" noProof="0" dirty="0" err="1">
                <a:solidFill>
                  <a:srgbClr val="222730"/>
                </a:solidFill>
                <a:latin typeface="Calibri"/>
              </a:rPr>
              <a:t>sklearn</a:t>
            </a:r>
            <a:r>
              <a:rPr lang="pt-BR" sz="1450" b="0" i="0" noProof="0" dirty="0">
                <a:solidFill>
                  <a:srgbClr val="222730"/>
                </a:solidFill>
                <a:latin typeface="Calibri"/>
              </a:rPr>
              <a:t>.</a:t>
            </a: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D3E4B793-5E1B-F0A1-32C3-0290BDC97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8095" y="6492875"/>
            <a:ext cx="2133600" cy="365125"/>
          </a:xfrm>
        </p:spPr>
        <p:txBody>
          <a:bodyPr/>
          <a:lstStyle/>
          <a:p>
            <a:fld id="{C1FF6DA9-008F-8B48-92A6-B652298478BF}" type="slidenum">
              <a:rPr lang="pt-BR" noProof="0" smtClean="0"/>
              <a:t>5</a:t>
            </a:fld>
            <a:endParaRPr lang="pt-BR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D97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789920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pt-BR" sz="2800" b="1" i="0" noProof="0" dirty="0">
                <a:solidFill>
                  <a:srgbClr val="FFFFFF"/>
                </a:solidFill>
                <a:latin typeface="Calibri"/>
              </a:rPr>
              <a:t>Experimentos</a:t>
            </a:r>
          </a:p>
          <a:p>
            <a:pPr algn="l">
              <a:spcAft>
                <a:spcPts val="0"/>
              </a:spcAft>
            </a:pPr>
            <a:r>
              <a:rPr lang="pt-BR" sz="1300" b="0" i="1" noProof="0" dirty="0">
                <a:solidFill>
                  <a:srgbClr val="DDE8F7"/>
                </a:solidFill>
                <a:latin typeface="Calibri"/>
              </a:rPr>
              <a:t>Bases · seleção de parâmetros · protocolo experimental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91440"/>
            <a:ext cx="1371600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lang="pt-BR" sz="3000" b="1" i="0" noProof="0" dirty="0">
                <a:solidFill>
                  <a:srgbClr val="D9771E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5486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pt-BR" sz="1400" b="1" i="0" noProof="0" dirty="0">
                <a:solidFill>
                  <a:srgbClr val="2E5EAA"/>
                </a:solidFill>
                <a:latin typeface="Calibri"/>
              </a:rPr>
              <a:t>Bases de dados (6 séries </a:t>
            </a:r>
            <a:r>
              <a:rPr lang="pt-BR" sz="1400" b="1" i="0" noProof="0" dirty="0" err="1">
                <a:solidFill>
                  <a:srgbClr val="2E5EAA"/>
                </a:solidFill>
                <a:latin typeface="Calibri"/>
              </a:rPr>
              <a:t>univariadas</a:t>
            </a:r>
            <a:r>
              <a:rPr lang="pt-BR" sz="1400" b="1" i="0" noProof="0" dirty="0">
                <a:solidFill>
                  <a:srgbClr val="2E5EAA"/>
                </a:solidFill>
                <a:latin typeface="Calibri"/>
              </a:rPr>
              <a:t>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4540382"/>
              </p:ext>
            </p:extLst>
          </p:nvPr>
        </p:nvGraphicFramePr>
        <p:xfrm>
          <a:off x="502920" y="1463040"/>
          <a:ext cx="58064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228">
                <a:tc>
                  <a:txBody>
                    <a:bodyPr/>
                    <a:lstStyle/>
                    <a:p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Calibri"/>
                        </a:rPr>
                        <a:t>Base</a:t>
                      </a:r>
                    </a:p>
                  </a:txBody>
                  <a:tcPr marL="50800" marR="50800" marT="12700" marB="12700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Calibri"/>
                        </a:rPr>
                        <a:t>Domínio</a:t>
                      </a:r>
                    </a:p>
                  </a:txBody>
                  <a:tcPr marL="50800" marR="50800" marT="12700" marB="12700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Calibri"/>
                        </a:rPr>
                        <a:t>Amostras</a:t>
                      </a:r>
                    </a:p>
                  </a:txBody>
                  <a:tcPr marL="50800" marR="50800" marT="12700" marB="12700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Calibri"/>
                        </a:rPr>
                        <a:t>Fonte</a:t>
                      </a:r>
                    </a:p>
                  </a:txBody>
                  <a:tcPr marL="50800" marR="50800" marT="12700" marB="12700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r>
                        <a:rPr lang="pt-BR" sz="1050" b="0" noProof="0" dirty="0" err="1">
                          <a:solidFill>
                            <a:srgbClr val="222730"/>
                          </a:solidFill>
                          <a:latin typeface="Calibri"/>
                        </a:rPr>
                        <a:t>airlines</a:t>
                      </a:r>
                      <a:endParaRPr lang="pt-BR" sz="1050" b="0" noProof="0" dirty="0">
                        <a:solidFill>
                          <a:srgbClr val="222730"/>
                        </a:solidFill>
                        <a:latin typeface="Calibri"/>
                      </a:endParaRPr>
                    </a:p>
                  </a:txBody>
                  <a:tcPr marL="50800" marR="50800" marT="12700" marB="12700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Passageiros aéreos (mensal)</a:t>
                      </a:r>
                    </a:p>
                  </a:txBody>
                  <a:tcPr marL="50800" marR="50800" marT="12700" marB="12700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144</a:t>
                      </a:r>
                    </a:p>
                  </a:txBody>
                  <a:tcPr marL="50800" marR="50800" marT="12700" marB="12700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clássica</a:t>
                      </a:r>
                    </a:p>
                  </a:txBody>
                  <a:tcPr marL="50800" marR="50800" marT="12700" marB="12700" anchor="ctr">
                    <a:solidFill>
                      <a:srgbClr val="ECEE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r>
                        <a:rPr lang="pt-BR" sz="1050" b="0" noProof="0" dirty="0" err="1">
                          <a:solidFill>
                            <a:srgbClr val="222730"/>
                          </a:solidFill>
                          <a:latin typeface="Calibri"/>
                        </a:rPr>
                        <a:t>lynx</a:t>
                      </a:r>
                      <a:endParaRPr lang="pt-BR" sz="1050" b="0" noProof="0" dirty="0">
                        <a:solidFill>
                          <a:srgbClr val="222730"/>
                        </a:solidFill>
                        <a:latin typeface="Calibri"/>
                      </a:endParaRP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Capturas de lince (anual)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114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clássica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r>
                        <a:rPr lang="pt-BR" sz="1050" b="0" noProof="0" dirty="0" err="1">
                          <a:solidFill>
                            <a:srgbClr val="222730"/>
                          </a:solidFill>
                          <a:latin typeface="Calibri"/>
                        </a:rPr>
                        <a:t>coloradoRiver</a:t>
                      </a:r>
                      <a:endParaRPr lang="pt-BR" sz="1050" b="0" noProof="0" dirty="0">
                        <a:solidFill>
                          <a:srgbClr val="222730"/>
                        </a:solidFill>
                        <a:latin typeface="Calibri"/>
                      </a:endParaRPr>
                    </a:p>
                  </a:txBody>
                  <a:tcPr marL="50800" marR="50800" marT="12700" marB="12700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Vazão do rio (mensal)</a:t>
                      </a:r>
                    </a:p>
                  </a:txBody>
                  <a:tcPr marL="50800" marR="50800" marT="12700" marB="12700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744</a:t>
                      </a:r>
                    </a:p>
                  </a:txBody>
                  <a:tcPr marL="50800" marR="50800" marT="12700" marB="12700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clássica</a:t>
                      </a:r>
                    </a:p>
                  </a:txBody>
                  <a:tcPr marL="50800" marR="50800" marT="12700" marB="12700" anchor="ctr">
                    <a:solidFill>
                      <a:srgbClr val="ECEE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r>
                        <a:rPr lang="pt-BR" sz="1050" b="0" noProof="0" dirty="0" err="1">
                          <a:solidFill>
                            <a:srgbClr val="222730"/>
                          </a:solidFill>
                          <a:latin typeface="Calibri"/>
                        </a:rPr>
                        <a:t>melbmin</a:t>
                      </a:r>
                      <a:endParaRPr lang="pt-BR" sz="1050" b="0" noProof="0" dirty="0">
                        <a:solidFill>
                          <a:srgbClr val="222730"/>
                        </a:solidFill>
                        <a:latin typeface="Calibri"/>
                      </a:endParaRP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Temp. mínima diária (Melbourne)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3650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clássica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r>
                        <a:rPr lang="pt-BR" sz="1050" b="0" noProof="0" dirty="0" err="1">
                          <a:solidFill>
                            <a:srgbClr val="222730"/>
                          </a:solidFill>
                          <a:latin typeface="Calibri"/>
                        </a:rPr>
                        <a:t>air_quality_rh</a:t>
                      </a:r>
                      <a:endParaRPr lang="pt-BR" sz="1050" b="0" noProof="0" dirty="0">
                        <a:solidFill>
                          <a:srgbClr val="222730"/>
                        </a:solidFill>
                        <a:latin typeface="Calibri"/>
                      </a:endParaRPr>
                    </a:p>
                  </a:txBody>
                  <a:tcPr marL="50800" marR="50800" marT="12700" marB="12700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Umidade relativa do ar (horária)</a:t>
                      </a:r>
                    </a:p>
                  </a:txBody>
                  <a:tcPr marL="50800" marR="50800" marT="12700" marB="12700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3000</a:t>
                      </a:r>
                    </a:p>
                  </a:txBody>
                  <a:tcPr marL="50800" marR="50800" marT="12700" marB="12700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UCI 360</a:t>
                      </a:r>
                    </a:p>
                  </a:txBody>
                  <a:tcPr marL="50800" marR="50800" marT="12700" marB="12700" anchor="ctr">
                    <a:solidFill>
                      <a:srgbClr val="ECEE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232">
                <a:tc>
                  <a:txBody>
                    <a:bodyPr/>
                    <a:lstStyle/>
                    <a:p>
                      <a:r>
                        <a:rPr lang="pt-BR" sz="1050" b="0" noProof="0" dirty="0" err="1">
                          <a:solidFill>
                            <a:srgbClr val="222730"/>
                          </a:solidFill>
                          <a:latin typeface="Calibri"/>
                        </a:rPr>
                        <a:t>appliances_energy</a:t>
                      </a:r>
                      <a:endParaRPr lang="pt-BR" sz="1050" b="0" noProof="0" dirty="0">
                        <a:solidFill>
                          <a:srgbClr val="222730"/>
                        </a:solidFill>
                        <a:latin typeface="Calibri"/>
                      </a:endParaRP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Consumo de energia elétrica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3000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05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UCI 374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537960" y="1463040"/>
            <a:ext cx="5166360" cy="2514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5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38100" rtlCol="0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lang="pt-BR" sz="1350" b="1" i="0" noProof="0" dirty="0">
                <a:solidFill>
                  <a:srgbClr val="2E5EAA"/>
                </a:solidFill>
                <a:latin typeface="Calibri"/>
              </a:rPr>
              <a:t>Seleção de parâmetros (grids nos __</a:t>
            </a:r>
            <a:r>
              <a:rPr lang="pt-BR" sz="1350" b="1" i="0" noProof="0" dirty="0" err="1">
                <a:solidFill>
                  <a:srgbClr val="2E5EAA"/>
                </a:solidFill>
                <a:latin typeface="Calibri"/>
              </a:rPr>
              <a:t>init</a:t>
            </a:r>
            <a:r>
              <a:rPr lang="pt-BR" sz="1350" b="1" i="0" noProof="0" dirty="0">
                <a:solidFill>
                  <a:srgbClr val="2E5EAA"/>
                </a:solidFill>
                <a:latin typeface="Calibri"/>
              </a:rPr>
              <a:t>__)</a:t>
            </a:r>
          </a:p>
          <a:p>
            <a:pPr algn="l">
              <a:spcAft>
                <a:spcPts val="300"/>
              </a:spcAft>
            </a:pPr>
            <a:r>
              <a:rPr lang="pt-BR" sz="1150" b="0" i="0" noProof="0" dirty="0">
                <a:solidFill>
                  <a:srgbClr val="222730"/>
                </a:solidFill>
                <a:latin typeface="Calibri"/>
              </a:rPr>
              <a:t>•  MLP: neurônios {10,20,30,40}, </a:t>
            </a:r>
            <a:r>
              <a:rPr lang="pt-BR" sz="1150" b="0" i="0" noProof="0" dirty="0" err="1">
                <a:solidFill>
                  <a:srgbClr val="222730"/>
                </a:solidFill>
                <a:latin typeface="Calibri"/>
              </a:rPr>
              <a:t>lr</a:t>
            </a:r>
            <a:r>
              <a:rPr lang="pt-BR" sz="1150" b="0" i="0" noProof="0" dirty="0">
                <a:solidFill>
                  <a:srgbClr val="222730"/>
                </a:solidFill>
                <a:latin typeface="Calibri"/>
              </a:rPr>
              <a:t> {0.1,0.01,0.001}, ativ. {</a:t>
            </a:r>
            <a:r>
              <a:rPr lang="pt-BR" sz="1150" b="0" i="0" noProof="0" dirty="0" err="1">
                <a:solidFill>
                  <a:srgbClr val="222730"/>
                </a:solidFill>
                <a:latin typeface="Calibri"/>
              </a:rPr>
              <a:t>logistic,tanh,relu</a:t>
            </a:r>
            <a:r>
              <a:rPr lang="pt-BR" sz="1150" b="0" i="0" noProof="0" dirty="0">
                <a:solidFill>
                  <a:srgbClr val="222730"/>
                </a:solidFill>
                <a:latin typeface="Calibri"/>
              </a:rPr>
              <a:t>}</a:t>
            </a:r>
          </a:p>
          <a:p>
            <a:pPr algn="l">
              <a:spcAft>
                <a:spcPts val="300"/>
              </a:spcAft>
            </a:pPr>
            <a:r>
              <a:rPr lang="pt-BR" sz="1150" b="0" i="0" noProof="0" dirty="0">
                <a:solidFill>
                  <a:srgbClr val="222730"/>
                </a:solidFill>
                <a:latin typeface="Calibri"/>
              </a:rPr>
              <a:t>•  SCN: </a:t>
            </a:r>
            <a:r>
              <a:rPr lang="pt-BR" sz="1150" b="0" i="0" noProof="0" dirty="0" err="1">
                <a:solidFill>
                  <a:srgbClr val="222730"/>
                </a:solidFill>
                <a:latin typeface="Calibri"/>
              </a:rPr>
              <a:t>L_max</a:t>
            </a:r>
            <a:r>
              <a:rPr lang="pt-BR" sz="1150" b="0" i="0" noProof="0" dirty="0">
                <a:solidFill>
                  <a:srgbClr val="222730"/>
                </a:solidFill>
                <a:latin typeface="Calibri"/>
              </a:rPr>
              <a:t> {5,10,20,30}, r {0.5,0.7}   ·   ELM: neurônios {10,20,50,100}</a:t>
            </a:r>
          </a:p>
          <a:p>
            <a:pPr algn="l">
              <a:spcAft>
                <a:spcPts val="300"/>
              </a:spcAft>
            </a:pPr>
            <a:r>
              <a:rPr lang="pt-BR" sz="1150" b="0" i="0" noProof="0" dirty="0">
                <a:solidFill>
                  <a:srgbClr val="222730"/>
                </a:solidFill>
                <a:latin typeface="Calibri"/>
              </a:rPr>
              <a:t>•  SVR: C {0.1,1,10,100}, ε {0.01,0.05,0.1}, γ {scale,0.01,0.1}</a:t>
            </a:r>
          </a:p>
          <a:p>
            <a:pPr algn="l">
              <a:spcAft>
                <a:spcPts val="300"/>
              </a:spcAft>
            </a:pPr>
            <a:r>
              <a:rPr lang="pt-BR" sz="1150" b="0" i="0" noProof="0" dirty="0">
                <a:solidFill>
                  <a:srgbClr val="222730"/>
                </a:solidFill>
                <a:latin typeface="Calibri"/>
              </a:rPr>
              <a:t>•  </a:t>
            </a:r>
            <a:r>
              <a:rPr lang="pt-BR" sz="1150" b="0" i="0" noProof="0" dirty="0" err="1">
                <a:solidFill>
                  <a:srgbClr val="222730"/>
                </a:solidFill>
                <a:latin typeface="Calibri"/>
              </a:rPr>
              <a:t>Adaline</a:t>
            </a:r>
            <a:r>
              <a:rPr lang="pt-BR" sz="1150" b="0" i="0" noProof="0" dirty="0">
                <a:solidFill>
                  <a:srgbClr val="222730"/>
                </a:solidFill>
                <a:latin typeface="Calibri"/>
              </a:rPr>
              <a:t>: </a:t>
            </a:r>
            <a:r>
              <a:rPr lang="pt-BR" sz="1150" b="0" i="0" noProof="0" dirty="0" err="1">
                <a:solidFill>
                  <a:srgbClr val="222730"/>
                </a:solidFill>
                <a:latin typeface="Calibri"/>
              </a:rPr>
              <a:t>lr</a:t>
            </a:r>
            <a:r>
              <a:rPr lang="pt-BR" sz="1150" b="0" i="0" noProof="0" dirty="0">
                <a:solidFill>
                  <a:srgbClr val="222730"/>
                </a:solidFill>
                <a:latin typeface="Calibri"/>
              </a:rPr>
              <a:t> {0.1,0.01,0.001}, épocas {500,1000}   ·   KNN: K {3,5,7,11}</a:t>
            </a:r>
          </a:p>
          <a:p>
            <a:pPr algn="l">
              <a:spcAft>
                <a:spcPts val="300"/>
              </a:spcAft>
            </a:pPr>
            <a:r>
              <a:rPr lang="pt-BR" sz="1150" b="0" i="0" noProof="0" dirty="0">
                <a:solidFill>
                  <a:srgbClr val="222730"/>
                </a:solidFill>
                <a:latin typeface="Calibri"/>
              </a:rPr>
              <a:t>•  GA: pop=20, gerações=50, mutação=0,1, torneio=3, 30 execuções</a:t>
            </a:r>
          </a:p>
          <a:p>
            <a:pPr algn="l">
              <a:spcAft>
                <a:spcPts val="300"/>
              </a:spcAft>
            </a:pPr>
            <a:r>
              <a:rPr lang="pt-BR" sz="1150" b="0" i="0" noProof="0" dirty="0">
                <a:solidFill>
                  <a:srgbClr val="222730"/>
                </a:solidFill>
                <a:latin typeface="Calibri"/>
              </a:rPr>
              <a:t>•  Critério: menor erro de validação · janela </a:t>
            </a:r>
            <a:r>
              <a:rPr lang="pt-BR" sz="1150" b="0" i="0" noProof="0" dirty="0" err="1">
                <a:solidFill>
                  <a:srgbClr val="222730"/>
                </a:solidFill>
                <a:latin typeface="Calibri"/>
              </a:rPr>
              <a:t>n_lags</a:t>
            </a:r>
            <a:r>
              <a:rPr lang="pt-BR" sz="1150" b="0" i="0" noProof="0" dirty="0">
                <a:solidFill>
                  <a:srgbClr val="222730"/>
                </a:solidFill>
                <a:latin typeface="Calibri"/>
              </a:rPr>
              <a:t> =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206240"/>
            <a:ext cx="11201400" cy="2194560"/>
          </a:xfrm>
          <a:prstGeom prst="roundRect">
            <a:avLst/>
          </a:prstGeom>
          <a:solidFill>
            <a:srgbClr val="ECEEF1"/>
          </a:solidFill>
          <a:ln w="12700">
            <a:solidFill>
              <a:srgbClr val="5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38100" rtlCol="0" anchor="t">
            <a:normAutofit/>
          </a:bodyPr>
          <a:lstStyle/>
          <a:p>
            <a:pPr algn="l">
              <a:spcAft>
                <a:spcPts val="400"/>
              </a:spcAft>
            </a:pPr>
            <a:r>
              <a:rPr lang="pt-BR" sz="1400" b="1" i="0" noProof="0" dirty="0">
                <a:solidFill>
                  <a:srgbClr val="2E5EAA"/>
                </a:solidFill>
                <a:latin typeface="Calibri"/>
              </a:rPr>
              <a:t>Protocolo experimental</a:t>
            </a:r>
          </a:p>
          <a:p>
            <a:pPr algn="l">
              <a:spcAft>
                <a:spcPts val="400"/>
              </a:spcAft>
            </a:pPr>
            <a:r>
              <a:rPr lang="pt-BR" sz="1350" b="0" i="0" noProof="0" dirty="0">
                <a:solidFill>
                  <a:srgbClr val="222730"/>
                </a:solidFill>
                <a:latin typeface="Calibri"/>
              </a:rPr>
              <a:t>•  Split temporal 60/20/20 sem </a:t>
            </a:r>
            <a:r>
              <a:rPr lang="pt-BR" sz="1350" b="0" i="0" noProof="0" dirty="0" err="1">
                <a:solidFill>
                  <a:srgbClr val="222730"/>
                </a:solidFill>
                <a:latin typeface="Calibri"/>
              </a:rPr>
              <a:t>shuffle</a:t>
            </a:r>
            <a:r>
              <a:rPr lang="pt-BR" sz="1350" b="0" i="0" noProof="0" dirty="0">
                <a:solidFill>
                  <a:srgbClr val="222730"/>
                </a:solidFill>
                <a:latin typeface="Calibri"/>
              </a:rPr>
              <a:t> (ordem cronológica preservada).</a:t>
            </a:r>
          </a:p>
          <a:p>
            <a:pPr algn="l">
              <a:spcAft>
                <a:spcPts val="400"/>
              </a:spcAft>
            </a:pPr>
            <a:r>
              <a:rPr lang="pt-BR" sz="1350" b="0" i="0" noProof="0" dirty="0">
                <a:solidFill>
                  <a:srgbClr val="222730"/>
                </a:solidFill>
                <a:latin typeface="Calibri"/>
              </a:rPr>
              <a:t>•  Min-Max ajustada só no treino, aplicada a validação/teste (sem vazamento).</a:t>
            </a:r>
          </a:p>
          <a:p>
            <a:pPr algn="l">
              <a:spcAft>
                <a:spcPts val="400"/>
              </a:spcAft>
            </a:pPr>
            <a:r>
              <a:rPr lang="pt-BR" sz="1350" b="0" i="0" noProof="0" dirty="0">
                <a:solidFill>
                  <a:srgbClr val="222730"/>
                </a:solidFill>
                <a:latin typeface="Calibri"/>
              </a:rPr>
              <a:t>•  Métricas em unidades originais (</a:t>
            </a:r>
            <a:r>
              <a:rPr lang="pt-BR" sz="1350" b="0" i="0" noProof="0" dirty="0" err="1">
                <a:solidFill>
                  <a:srgbClr val="222730"/>
                </a:solidFill>
                <a:latin typeface="Calibri"/>
              </a:rPr>
              <a:t>denorm</a:t>
            </a:r>
            <a:r>
              <a:rPr lang="pt-BR" sz="1350" b="0" i="0" noProof="0" dirty="0">
                <a:solidFill>
                  <a:srgbClr val="222730"/>
                </a:solidFill>
                <a:latin typeface="Calibri"/>
              </a:rPr>
              <a:t>): MSE, RMSE, MAE, MAPE.</a:t>
            </a:r>
          </a:p>
          <a:p>
            <a:pPr algn="l">
              <a:spcAft>
                <a:spcPts val="400"/>
              </a:spcAft>
            </a:pPr>
            <a:r>
              <a:rPr lang="pt-BR" sz="1350" b="0" i="0" noProof="0" dirty="0">
                <a:solidFill>
                  <a:srgbClr val="222730"/>
                </a:solidFill>
                <a:latin typeface="Calibri"/>
              </a:rPr>
              <a:t>•  Previsão </a:t>
            </a:r>
            <a:r>
              <a:rPr lang="pt-BR" sz="1350" b="0" i="1" noProof="0" dirty="0" err="1">
                <a:solidFill>
                  <a:srgbClr val="222730"/>
                </a:solidFill>
                <a:latin typeface="Calibri"/>
              </a:rPr>
              <a:t>one</a:t>
            </a:r>
            <a:r>
              <a:rPr lang="pt-BR" sz="1350" b="0" i="1" noProof="0" dirty="0">
                <a:solidFill>
                  <a:srgbClr val="222730"/>
                </a:solidFill>
                <a:latin typeface="Calibri"/>
              </a:rPr>
              <a:t>-step-</a:t>
            </a:r>
            <a:r>
              <a:rPr lang="pt-BR" sz="1350" b="0" i="1" noProof="0" dirty="0" err="1">
                <a:solidFill>
                  <a:srgbClr val="222730"/>
                </a:solidFill>
                <a:latin typeface="Calibri"/>
              </a:rPr>
              <a:t>ahead</a:t>
            </a:r>
            <a:r>
              <a:rPr lang="pt-BR" sz="1350" b="0" i="0" noProof="0" dirty="0">
                <a:solidFill>
                  <a:srgbClr val="222730"/>
                </a:solidFill>
                <a:latin typeface="Calibri"/>
              </a:rPr>
              <a:t>. Baselines: 6 modelos individuais e EMEAN vs. ensemble por GA.</a:t>
            </a:r>
          </a:p>
          <a:p>
            <a:pPr>
              <a:spcAft>
                <a:spcPts val="400"/>
              </a:spcAft>
            </a:pPr>
            <a:r>
              <a:rPr lang="pt-BR" sz="1350" dirty="0">
                <a:solidFill>
                  <a:srgbClr val="222730"/>
                </a:solidFill>
              </a:rPr>
              <a:t>•  </a:t>
            </a:r>
            <a:r>
              <a:rPr lang="pt-BR" sz="1350">
                <a:solidFill>
                  <a:srgbClr val="222730"/>
                </a:solidFill>
              </a:rPr>
              <a:t>Código disponível em: </a:t>
            </a:r>
            <a:endParaRPr lang="pt-BR" sz="1350" dirty="0">
              <a:solidFill>
                <a:srgbClr val="222730"/>
              </a:solidFill>
            </a:endParaRPr>
          </a:p>
          <a:p>
            <a:pPr algn="l">
              <a:spcAft>
                <a:spcPts val="400"/>
              </a:spcAft>
            </a:pPr>
            <a:endParaRPr lang="pt-BR" sz="1350" b="0" i="0" noProof="0" dirty="0">
              <a:solidFill>
                <a:srgbClr val="222730"/>
              </a:solidFill>
              <a:latin typeface="Calibri"/>
            </a:endParaRP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F0324058-1B38-96E4-8E1A-688C0D5ED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8095" y="6492875"/>
            <a:ext cx="2133600" cy="365125"/>
          </a:xfrm>
        </p:spPr>
        <p:txBody>
          <a:bodyPr/>
          <a:lstStyle/>
          <a:p>
            <a:fld id="{C1FF6DA9-008F-8B48-92A6-B652298478BF}" type="slidenum">
              <a:rPr lang="pt-BR" noProof="0" smtClean="0"/>
              <a:t>6</a:t>
            </a:fld>
            <a:endParaRPr lang="pt-BR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D97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789920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pt-BR" sz="2800" b="1" i="0" noProof="0" dirty="0">
                <a:solidFill>
                  <a:srgbClr val="FFFFFF"/>
                </a:solidFill>
                <a:latin typeface="Calibri"/>
              </a:rPr>
              <a:t>Resultados — Métricas (RMSE)</a:t>
            </a:r>
          </a:p>
          <a:p>
            <a:pPr algn="l">
              <a:spcAft>
                <a:spcPts val="0"/>
              </a:spcAft>
            </a:pPr>
            <a:r>
              <a:rPr lang="pt-BR" sz="1300" b="0" i="1" noProof="0" dirty="0">
                <a:solidFill>
                  <a:srgbClr val="DDE8F7"/>
                </a:solidFill>
                <a:latin typeface="Calibri"/>
              </a:rPr>
              <a:t>RMSE por base × método — 6 séries, 8 métodos (menor = melhor)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91440"/>
            <a:ext cx="1371600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lang="pt-BR" sz="3000" b="1" i="0" noProof="0" dirty="0">
                <a:solidFill>
                  <a:srgbClr val="D9771E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462624"/>
              </p:ext>
            </p:extLst>
          </p:nvPr>
        </p:nvGraphicFramePr>
        <p:xfrm>
          <a:off x="502920" y="1371600"/>
          <a:ext cx="11183112" cy="3246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35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35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35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35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35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35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035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0357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63731">
                <a:tc>
                  <a:txBody>
                    <a:bodyPr/>
                    <a:lstStyle/>
                    <a:p>
                      <a:pPr algn="l"/>
                      <a:r>
                        <a:rPr lang="pt-BR" sz="1100" b="1" noProof="0" dirty="0">
                          <a:solidFill>
                            <a:srgbClr val="FFFFFF"/>
                          </a:solidFill>
                          <a:latin typeface="Calibri"/>
                        </a:rPr>
                        <a:t>Base</a:t>
                      </a:r>
                    </a:p>
                  </a:txBody>
                  <a:tcPr marL="50800" marR="50800" marT="12700" marB="12700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b="1" noProof="0" dirty="0">
                          <a:solidFill>
                            <a:srgbClr val="FFFFFF"/>
                          </a:solidFill>
                          <a:latin typeface="Calibri"/>
                        </a:rPr>
                        <a:t>MLP</a:t>
                      </a:r>
                    </a:p>
                  </a:txBody>
                  <a:tcPr marL="50800" marR="50800" marT="12700" marB="12700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b="1" noProof="0" dirty="0">
                          <a:solidFill>
                            <a:srgbClr val="FFFFFF"/>
                          </a:solidFill>
                          <a:latin typeface="Calibri"/>
                        </a:rPr>
                        <a:t>SCN</a:t>
                      </a:r>
                    </a:p>
                  </a:txBody>
                  <a:tcPr marL="50800" marR="50800" marT="12700" marB="12700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b="1" noProof="0" dirty="0">
                          <a:solidFill>
                            <a:srgbClr val="FFFFFF"/>
                          </a:solidFill>
                          <a:latin typeface="Calibri"/>
                        </a:rPr>
                        <a:t>ELM</a:t>
                      </a:r>
                    </a:p>
                  </a:txBody>
                  <a:tcPr marL="50800" marR="50800" marT="12700" marB="12700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b="1" noProof="0" dirty="0">
                          <a:solidFill>
                            <a:srgbClr val="FFFFFF"/>
                          </a:solidFill>
                          <a:latin typeface="Calibri"/>
                        </a:rPr>
                        <a:t>SVR</a:t>
                      </a:r>
                    </a:p>
                  </a:txBody>
                  <a:tcPr marL="50800" marR="50800" marT="12700" marB="12700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b="1" noProof="0" dirty="0">
                          <a:solidFill>
                            <a:srgbClr val="FFFFFF"/>
                          </a:solidFill>
                          <a:latin typeface="Calibri"/>
                        </a:rPr>
                        <a:t>ADA</a:t>
                      </a:r>
                    </a:p>
                  </a:txBody>
                  <a:tcPr marL="50800" marR="50800" marT="12700" marB="12700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b="1" noProof="0" dirty="0">
                          <a:solidFill>
                            <a:srgbClr val="FFFFFF"/>
                          </a:solidFill>
                          <a:latin typeface="Calibri"/>
                        </a:rPr>
                        <a:t>KNN</a:t>
                      </a:r>
                    </a:p>
                  </a:txBody>
                  <a:tcPr marL="50800" marR="50800" marT="12700" marB="12700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b="1" noProof="0" dirty="0">
                          <a:solidFill>
                            <a:srgbClr val="FFFFFF"/>
                          </a:solidFill>
                          <a:latin typeface="Calibri"/>
                        </a:rPr>
                        <a:t>EMEAN</a:t>
                      </a:r>
                    </a:p>
                  </a:txBody>
                  <a:tcPr marL="50800" marR="50800" marT="12700" marB="12700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b="1" noProof="0" dirty="0">
                          <a:solidFill>
                            <a:srgbClr val="FFFFFF"/>
                          </a:solidFill>
                          <a:latin typeface="Calibri"/>
                        </a:rPr>
                        <a:t>GA</a:t>
                      </a:r>
                    </a:p>
                  </a:txBody>
                  <a:tcPr marL="50800" marR="50800" marT="12700" marB="12700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algn="l"/>
                      <a:r>
                        <a:rPr lang="pt-BR" sz="1000" b="1" noProof="0" dirty="0" err="1">
                          <a:solidFill>
                            <a:srgbClr val="1F2A44"/>
                          </a:solidFill>
                          <a:latin typeface="Calibri"/>
                        </a:rPr>
                        <a:t>airlines</a:t>
                      </a:r>
                      <a:endParaRPr lang="pt-BR" sz="1000" b="1" noProof="0" dirty="0">
                        <a:solidFill>
                          <a:srgbClr val="1F2A44"/>
                        </a:solidFill>
                        <a:latin typeface="Calibri"/>
                      </a:endParaRP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60.64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62.81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159.4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123.4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noProof="0" dirty="0">
                          <a:solidFill>
                            <a:srgbClr val="2E5EAA"/>
                          </a:solidFill>
                          <a:latin typeface="Calibri"/>
                        </a:rPr>
                        <a:t>46.97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166.8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61.95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86.02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algn="l"/>
                      <a:r>
                        <a:rPr lang="pt-BR" sz="1000" b="1" noProof="0" dirty="0" err="1">
                          <a:solidFill>
                            <a:srgbClr val="1F2A44"/>
                          </a:solidFill>
                          <a:latin typeface="Calibri"/>
                        </a:rPr>
                        <a:t>lynx</a:t>
                      </a:r>
                      <a:endParaRPr lang="pt-BR" sz="1000" b="1" noProof="0" dirty="0">
                        <a:solidFill>
                          <a:srgbClr val="1F2A44"/>
                        </a:solidFill>
                        <a:latin typeface="Calibri"/>
                      </a:endParaRPr>
                    </a:p>
                  </a:txBody>
                  <a:tcPr marL="50800" marR="50800" marT="12700" marB="12700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743.7</a:t>
                      </a:r>
                    </a:p>
                  </a:txBody>
                  <a:tcPr marL="50800" marR="50800" marT="12700" marB="12700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825.6</a:t>
                      </a:r>
                    </a:p>
                  </a:txBody>
                  <a:tcPr marL="50800" marR="50800" marT="12700" marB="12700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noProof="0" dirty="0">
                          <a:solidFill>
                            <a:srgbClr val="2E5EAA"/>
                          </a:solidFill>
                          <a:latin typeface="Calibri"/>
                        </a:rPr>
                        <a:t>736.8</a:t>
                      </a:r>
                    </a:p>
                  </a:txBody>
                  <a:tcPr marL="50800" marR="50800" marT="12700" marB="12700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1271</a:t>
                      </a:r>
                    </a:p>
                  </a:txBody>
                  <a:tcPr marL="50800" marR="50800" marT="12700" marB="12700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792.9</a:t>
                      </a:r>
                    </a:p>
                  </a:txBody>
                  <a:tcPr marL="50800" marR="50800" marT="12700" marB="12700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1060</a:t>
                      </a:r>
                    </a:p>
                  </a:txBody>
                  <a:tcPr marL="50800" marR="50800" marT="12700" marB="12700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786.9</a:t>
                      </a:r>
                    </a:p>
                  </a:txBody>
                  <a:tcPr marL="50800" marR="50800" marT="12700" marB="12700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808.7</a:t>
                      </a:r>
                    </a:p>
                  </a:txBody>
                  <a:tcPr marL="50800" marR="50800" marT="12700" marB="12700" anchor="ctr">
                    <a:solidFill>
                      <a:srgbClr val="ECEE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algn="l"/>
                      <a:r>
                        <a:rPr lang="pt-BR" sz="1000" b="1" noProof="0" dirty="0" err="1">
                          <a:solidFill>
                            <a:srgbClr val="1F2A44"/>
                          </a:solidFill>
                          <a:latin typeface="Calibri"/>
                        </a:rPr>
                        <a:t>coloradoRiver</a:t>
                      </a:r>
                      <a:endParaRPr lang="pt-BR" sz="1000" b="1" noProof="0" dirty="0">
                        <a:solidFill>
                          <a:srgbClr val="1F2A44"/>
                        </a:solidFill>
                        <a:latin typeface="Calibri"/>
                      </a:endParaRP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0.5458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0.6181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noProof="0" dirty="0">
                          <a:solidFill>
                            <a:srgbClr val="2E5EAA"/>
                          </a:solidFill>
                          <a:latin typeface="Calibri"/>
                        </a:rPr>
                        <a:t>0.5133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0.5618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0.5636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1.396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0.6465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0.5376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algn="l"/>
                      <a:r>
                        <a:rPr lang="pt-BR" sz="1000" b="1" noProof="0" dirty="0" err="1">
                          <a:solidFill>
                            <a:srgbClr val="1F2A44"/>
                          </a:solidFill>
                          <a:latin typeface="Calibri"/>
                        </a:rPr>
                        <a:t>melbmin</a:t>
                      </a:r>
                      <a:endParaRPr lang="pt-BR" sz="1000" b="1" noProof="0" dirty="0">
                        <a:solidFill>
                          <a:srgbClr val="1F2A44"/>
                        </a:solidFill>
                        <a:latin typeface="Calibri"/>
                      </a:endParaRPr>
                    </a:p>
                  </a:txBody>
                  <a:tcPr marL="50800" marR="50800" marT="12700" marB="12700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2.263</a:t>
                      </a:r>
                    </a:p>
                  </a:txBody>
                  <a:tcPr marL="50800" marR="50800" marT="12700" marB="12700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2.247</a:t>
                      </a:r>
                    </a:p>
                  </a:txBody>
                  <a:tcPr marL="50800" marR="50800" marT="12700" marB="12700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2.262</a:t>
                      </a:r>
                    </a:p>
                  </a:txBody>
                  <a:tcPr marL="50800" marR="50800" marT="12700" marB="12700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2.253</a:t>
                      </a:r>
                    </a:p>
                  </a:txBody>
                  <a:tcPr marL="50800" marR="50800" marT="12700" marB="12700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2.274</a:t>
                      </a:r>
                    </a:p>
                  </a:txBody>
                  <a:tcPr marL="50800" marR="50800" marT="12700" marB="12700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2.39</a:t>
                      </a:r>
                    </a:p>
                  </a:txBody>
                  <a:tcPr marL="50800" marR="50800" marT="12700" marB="12700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2.243</a:t>
                      </a:r>
                    </a:p>
                  </a:txBody>
                  <a:tcPr marL="50800" marR="50800" marT="12700" marB="12700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noProof="0" dirty="0">
                          <a:solidFill>
                            <a:srgbClr val="2E5EAA"/>
                          </a:solidFill>
                          <a:latin typeface="Calibri"/>
                        </a:rPr>
                        <a:t>2.242</a:t>
                      </a:r>
                    </a:p>
                  </a:txBody>
                  <a:tcPr marL="50800" marR="50800" marT="12700" marB="12700" anchor="ctr">
                    <a:solidFill>
                      <a:srgbClr val="ECEE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algn="l"/>
                      <a:r>
                        <a:rPr lang="pt-BR" sz="1000" b="1" noProof="0" dirty="0" err="1">
                          <a:solidFill>
                            <a:srgbClr val="1F2A44"/>
                          </a:solidFill>
                          <a:latin typeface="Calibri"/>
                        </a:rPr>
                        <a:t>air_quality</a:t>
                      </a:r>
                      <a:endParaRPr lang="pt-BR" sz="1000" b="1" noProof="0" dirty="0">
                        <a:solidFill>
                          <a:srgbClr val="1F2A44"/>
                        </a:solidFill>
                        <a:latin typeface="Calibri"/>
                      </a:endParaRP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noProof="0" dirty="0">
                          <a:solidFill>
                            <a:srgbClr val="2E5EAA"/>
                          </a:solidFill>
                          <a:latin typeface="Calibri"/>
                        </a:rPr>
                        <a:t>3.346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3.537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3.567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3.55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3.48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4.225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3.49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3.464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3734">
                <a:tc>
                  <a:txBody>
                    <a:bodyPr/>
                    <a:lstStyle/>
                    <a:p>
                      <a:pPr algn="l"/>
                      <a:r>
                        <a:rPr lang="pt-BR" sz="1000" b="1" noProof="0" dirty="0" err="1">
                          <a:solidFill>
                            <a:srgbClr val="1F2A44"/>
                          </a:solidFill>
                          <a:latin typeface="Calibri"/>
                        </a:rPr>
                        <a:t>appliances</a:t>
                      </a:r>
                      <a:endParaRPr lang="pt-BR" sz="1000" b="1" noProof="0" dirty="0">
                        <a:solidFill>
                          <a:srgbClr val="1F2A44"/>
                        </a:solidFill>
                        <a:latin typeface="Calibri"/>
                      </a:endParaRPr>
                    </a:p>
                  </a:txBody>
                  <a:tcPr marL="50800" marR="50800" marT="12700" marB="12700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69.21</a:t>
                      </a:r>
                    </a:p>
                  </a:txBody>
                  <a:tcPr marL="50800" marR="50800" marT="12700" marB="12700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69.95</a:t>
                      </a:r>
                    </a:p>
                  </a:txBody>
                  <a:tcPr marL="50800" marR="50800" marT="12700" marB="12700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74.5</a:t>
                      </a:r>
                    </a:p>
                  </a:txBody>
                  <a:tcPr marL="50800" marR="50800" marT="12700" marB="12700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71.57</a:t>
                      </a:r>
                    </a:p>
                  </a:txBody>
                  <a:tcPr marL="50800" marR="50800" marT="12700" marB="12700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noProof="0" dirty="0">
                          <a:solidFill>
                            <a:srgbClr val="2E5EAA"/>
                          </a:solidFill>
                          <a:latin typeface="Calibri"/>
                        </a:rPr>
                        <a:t>69.14</a:t>
                      </a:r>
                    </a:p>
                  </a:txBody>
                  <a:tcPr marL="50800" marR="50800" marT="12700" marB="12700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75.77</a:t>
                      </a:r>
                    </a:p>
                  </a:txBody>
                  <a:tcPr marL="50800" marR="50800" marT="12700" marB="12700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noProof="0" dirty="0">
                          <a:solidFill>
                            <a:srgbClr val="2E5EAA"/>
                          </a:solidFill>
                          <a:latin typeface="Calibri"/>
                        </a:rPr>
                        <a:t>69.14</a:t>
                      </a:r>
                    </a:p>
                  </a:txBody>
                  <a:tcPr marL="50800" marR="50800" marT="12700" marB="12700"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 noProof="0" dirty="0">
                          <a:solidFill>
                            <a:srgbClr val="222730"/>
                          </a:solidFill>
                          <a:latin typeface="Calibri"/>
                        </a:rPr>
                        <a:t>70.99</a:t>
                      </a:r>
                    </a:p>
                  </a:txBody>
                  <a:tcPr marL="50800" marR="50800" marT="12700" marB="12700" anchor="ctr">
                    <a:solidFill>
                      <a:srgbClr val="ECEE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709160"/>
            <a:ext cx="11183112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pt-BR" sz="1050" b="0" i="1" noProof="0" dirty="0">
                <a:solidFill>
                  <a:srgbClr val="6B7280"/>
                </a:solidFill>
                <a:latin typeface="Calibri"/>
              </a:rPr>
              <a:t>RMSE em unidades originais (</a:t>
            </a:r>
            <a:r>
              <a:rPr lang="pt-BR" sz="1050" b="0" i="1" noProof="0" dirty="0" err="1">
                <a:solidFill>
                  <a:srgbClr val="6B7280"/>
                </a:solidFill>
                <a:latin typeface="Calibri"/>
              </a:rPr>
              <a:t>denorm</a:t>
            </a:r>
            <a:r>
              <a:rPr lang="pt-BR" sz="1050" b="0" i="1" noProof="0" dirty="0">
                <a:solidFill>
                  <a:srgbClr val="6B7280"/>
                </a:solidFill>
                <a:latin typeface="Calibri"/>
              </a:rPr>
              <a:t>); menor por linha em negrito. MSE, MAE e MAPE completos em </a:t>
            </a:r>
            <a:r>
              <a:rPr lang="pt-BR" sz="1050" b="0" i="1" noProof="0" dirty="0" err="1">
                <a:solidFill>
                  <a:srgbClr val="6B7280"/>
                </a:solidFill>
                <a:latin typeface="Calibri"/>
              </a:rPr>
              <a:t>results</a:t>
            </a:r>
            <a:r>
              <a:rPr lang="pt-BR" sz="1050" b="0" i="1" noProof="0" dirty="0">
                <a:solidFill>
                  <a:srgbClr val="6B7280"/>
                </a:solidFill>
                <a:latin typeface="Calibri"/>
              </a:rPr>
              <a:t>/</a:t>
            </a:r>
            <a:r>
              <a:rPr lang="pt-BR" sz="1050" b="0" i="1" noProof="0" dirty="0" err="1">
                <a:solidFill>
                  <a:srgbClr val="6B7280"/>
                </a:solidFill>
                <a:latin typeface="Calibri"/>
              </a:rPr>
              <a:t>tables</a:t>
            </a:r>
            <a:r>
              <a:rPr lang="pt-BR" sz="1050" b="0" i="1" noProof="0" dirty="0">
                <a:solidFill>
                  <a:srgbClr val="6B7280"/>
                </a:solidFill>
                <a:latin typeface="Calibri"/>
              </a:rPr>
              <a:t>/metrics_main.csv.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166360"/>
            <a:ext cx="11183112" cy="1417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pt-BR" sz="1400" b="1" i="0" noProof="0" dirty="0">
                <a:solidFill>
                  <a:srgbClr val="2E5EAA"/>
                </a:solidFill>
                <a:latin typeface="Calibri"/>
              </a:rPr>
              <a:t>Leitura</a:t>
            </a:r>
          </a:p>
          <a:p>
            <a:pPr algn="l">
              <a:spcAft>
                <a:spcPts val="400"/>
              </a:spcAft>
            </a:pP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•  O KNN é consistentemente o pior em todas as bases; o melhor modelo base varia por série (ADA em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airlines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/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appliances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, ELM em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coloradoRiver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/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lynx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, MLP em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air_quality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).</a:t>
            </a:r>
          </a:p>
          <a:p>
            <a:pPr algn="l">
              <a:spcAft>
                <a:spcPts val="400"/>
              </a:spcAft>
            </a:pP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•  O GA fica competitivo: melhor em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melbmin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 e junto do topo em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coloradoRiver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 e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air_quality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; mas nas séries menores (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airlines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,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lynx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) perde para os modelos individuais. Empate ADA≈EMEAN em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appliances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.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0FDD44A9-C8B8-6890-6D8B-EC7EBBF7E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8400" y="6492557"/>
            <a:ext cx="2133600" cy="365125"/>
          </a:xfrm>
        </p:spPr>
        <p:txBody>
          <a:bodyPr/>
          <a:lstStyle/>
          <a:p>
            <a:fld id="{C1FF6DA9-008F-8B48-92A6-B652298478BF}" type="slidenum">
              <a:rPr lang="pt-BR" noProof="0" smtClean="0"/>
              <a:t>7</a:t>
            </a:fld>
            <a:endParaRPr lang="pt-BR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D97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789920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pt-BR" sz="2800" b="1" i="0" noProof="0" dirty="0">
                <a:solidFill>
                  <a:srgbClr val="FFFFFF"/>
                </a:solidFill>
                <a:latin typeface="Calibri"/>
              </a:rPr>
              <a:t>Resultados — Ranking &amp; Significância</a:t>
            </a:r>
          </a:p>
          <a:p>
            <a:pPr algn="l">
              <a:spcAft>
                <a:spcPts val="0"/>
              </a:spcAft>
            </a:pPr>
            <a:r>
              <a:rPr lang="pt-BR" sz="1300" b="0" i="1" noProof="0" dirty="0">
                <a:solidFill>
                  <a:srgbClr val="DDE8F7"/>
                </a:solidFill>
                <a:latin typeface="Calibri"/>
              </a:rPr>
              <a:t>Ranking médio entre as 6 bases + Friedman e pós-teste de </a:t>
            </a:r>
            <a:r>
              <a:rPr lang="pt-BR" sz="1300" b="0" i="1" noProof="0" dirty="0" err="1">
                <a:solidFill>
                  <a:srgbClr val="DDE8F7"/>
                </a:solidFill>
                <a:latin typeface="Calibri"/>
              </a:rPr>
              <a:t>Nemenyi</a:t>
            </a:r>
            <a:endParaRPr lang="pt-BR" sz="1300" b="0" i="1" noProof="0" dirty="0">
              <a:solidFill>
                <a:srgbClr val="DDE8F7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98480" y="91440"/>
            <a:ext cx="1371600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lang="pt-BR" sz="3000" b="1" i="0" noProof="0" dirty="0">
                <a:solidFill>
                  <a:srgbClr val="D9771E"/>
                </a:solidFill>
                <a:latin typeface="Calibri"/>
              </a:rPr>
              <a:t>4</a:t>
            </a:r>
          </a:p>
        </p:txBody>
      </p:sp>
      <p:pic>
        <p:nvPicPr>
          <p:cNvPr id="6" name="Picture 5" descr="avg_rank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435" y="1188720"/>
            <a:ext cx="4378081" cy="1920240"/>
          </a:xfrm>
          <a:prstGeom prst="rect">
            <a:avLst/>
          </a:prstGeom>
        </p:spPr>
      </p:pic>
      <p:pic>
        <p:nvPicPr>
          <p:cNvPr id="7" name="Picture 6" descr="critical_differ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9373" y="3246120"/>
            <a:ext cx="6850206" cy="205739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5440680"/>
            <a:ext cx="11183112" cy="1188720"/>
          </a:xfrm>
          <a:prstGeom prst="roundRect">
            <a:avLst/>
          </a:prstGeom>
          <a:solidFill>
            <a:srgbClr val="ECEEF1"/>
          </a:solidFill>
          <a:ln w="12700">
            <a:solidFill>
              <a:srgbClr val="5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8100" bIns="38100" rtlCol="0" anchor="ctr"/>
          <a:lstStyle/>
          <a:p>
            <a:pPr algn="ctr">
              <a:spcAft>
                <a:spcPts val="100"/>
              </a:spcAft>
            </a:pP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Friedman χ² = 18,67; p = 0,009 → há diferença global entre os métodos. Mas o pós-teste de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Nemenyi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 só separa o KNN: o MLP tem o melhor ranking médio (2,83), o GA vem em 2º (3,33) e todos no topo ficam estatisticamente empatados (N = 6, k = 8 → distância crítica larga).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79B4A476-983E-65A9-5D2B-B80495E63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8095" y="6492875"/>
            <a:ext cx="2133600" cy="365125"/>
          </a:xfrm>
        </p:spPr>
        <p:txBody>
          <a:bodyPr/>
          <a:lstStyle/>
          <a:p>
            <a:fld id="{C1FF6DA9-008F-8B48-92A6-B652298478BF}" type="slidenum">
              <a:rPr lang="pt-BR" noProof="0" smtClean="0"/>
              <a:t>8</a:t>
            </a:fld>
            <a:endParaRPr lang="pt-BR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D97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789920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pt-BR" sz="2800" b="1" i="0" noProof="0" dirty="0">
                <a:solidFill>
                  <a:srgbClr val="FFFFFF"/>
                </a:solidFill>
                <a:latin typeface="Calibri"/>
              </a:rPr>
              <a:t>Resultados — Convergência do GA</a:t>
            </a:r>
          </a:p>
          <a:p>
            <a:pPr algn="l">
              <a:spcAft>
                <a:spcPts val="0"/>
              </a:spcAft>
            </a:pPr>
            <a:r>
              <a:rPr lang="pt-BR" sz="1300" b="0" i="1" noProof="0" dirty="0">
                <a:solidFill>
                  <a:srgbClr val="DDE8F7"/>
                </a:solidFill>
                <a:latin typeface="Calibri"/>
              </a:rPr>
              <a:t>Fitness (1/MSE) por geração — 30 execuções por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91440"/>
            <a:ext cx="1371600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lang="pt-BR" sz="3000" b="1" i="0" noProof="0" dirty="0">
                <a:solidFill>
                  <a:srgbClr val="D9771E"/>
                </a:solidFill>
                <a:latin typeface="Calibri"/>
              </a:rPr>
              <a:t>4</a:t>
            </a:r>
          </a:p>
        </p:txBody>
      </p:sp>
      <p:pic>
        <p:nvPicPr>
          <p:cNvPr id="6" name="Picture 5" descr="ga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634" y="1234440"/>
            <a:ext cx="7853684" cy="41605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532120"/>
            <a:ext cx="11183112" cy="1051560"/>
          </a:xfrm>
          <a:prstGeom prst="roundRect">
            <a:avLst/>
          </a:prstGeom>
          <a:solidFill>
            <a:srgbClr val="ECEEF1"/>
          </a:solidFill>
          <a:ln w="12700">
            <a:solidFill>
              <a:srgbClr val="5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8100" bIns="38100" rtlCol="0" anchor="ctr"/>
          <a:lstStyle/>
          <a:p>
            <a:pPr algn="ctr">
              <a:spcAft>
                <a:spcPts val="100"/>
              </a:spcAft>
            </a:pP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Fitness = 1/MSE na validação; as 30 execuções convergem em poucas gerações. O GA tende a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superajustar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 a validação: fica entre os melhores (1º–2º) em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melbmin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,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coloradoRiver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 e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air_quality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, mas cai nas séries menores (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airlines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,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lynx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), onde os pesos de uma validação pequena não transferem.</a:t>
            </a: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695AE94-5D5E-A7D2-2F18-C378F99AA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8400" y="6492875"/>
            <a:ext cx="2133600" cy="365125"/>
          </a:xfrm>
        </p:spPr>
        <p:txBody>
          <a:bodyPr/>
          <a:lstStyle/>
          <a:p>
            <a:fld id="{C1FF6DA9-008F-8B48-92A6-B652298478BF}" type="slidenum">
              <a:rPr lang="pt-BR" noProof="0" smtClean="0"/>
              <a:t>9</a:t>
            </a:fld>
            <a:endParaRPr lang="pt-BR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D97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789920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pt-BR" sz="2800" b="1" i="0" noProof="0" dirty="0">
                <a:solidFill>
                  <a:srgbClr val="FFFFFF"/>
                </a:solidFill>
                <a:latin typeface="Calibri"/>
              </a:rPr>
              <a:t>Resultados — Distribuição do MSE do GA</a:t>
            </a:r>
          </a:p>
          <a:p>
            <a:pPr algn="l">
              <a:spcAft>
                <a:spcPts val="0"/>
              </a:spcAft>
            </a:pPr>
            <a:r>
              <a:rPr lang="pt-BR" sz="1300" b="0" i="1" noProof="0" dirty="0" err="1">
                <a:solidFill>
                  <a:srgbClr val="DDE8F7"/>
                </a:solidFill>
                <a:latin typeface="Calibri"/>
              </a:rPr>
              <a:t>Boxplots</a:t>
            </a:r>
            <a:r>
              <a:rPr lang="pt-BR" sz="1300" b="0" i="1" noProof="0" dirty="0">
                <a:solidFill>
                  <a:srgbClr val="DDE8F7"/>
                </a:solidFill>
                <a:latin typeface="Calibri"/>
              </a:rPr>
              <a:t> de MSE das 30 execuções por base (teste)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91440"/>
            <a:ext cx="1371600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lang="pt-BR" sz="3000" b="1" i="0" noProof="0" dirty="0">
                <a:solidFill>
                  <a:srgbClr val="D9771E"/>
                </a:solidFill>
                <a:latin typeface="Calibri"/>
              </a:rPr>
              <a:t>4</a:t>
            </a:r>
          </a:p>
        </p:txBody>
      </p:sp>
      <p:pic>
        <p:nvPicPr>
          <p:cNvPr id="6" name="Picture 5" descr="ga_box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9291" y="1234440"/>
            <a:ext cx="7850369" cy="4160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532120"/>
            <a:ext cx="11183112" cy="1051560"/>
          </a:xfrm>
          <a:prstGeom prst="roundRect">
            <a:avLst/>
          </a:prstGeom>
          <a:solidFill>
            <a:srgbClr val="ECEEF1"/>
          </a:solidFill>
          <a:ln w="12700">
            <a:solidFill>
              <a:srgbClr val="5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8100" bIns="38100" rtlCol="0" anchor="ctr"/>
          <a:lstStyle/>
          <a:p>
            <a:pPr algn="ctr">
              <a:spcAft>
                <a:spcPts val="100"/>
              </a:spcAft>
            </a:pP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Dispersão dos 30 valores de MSE por base. Mede a estabilidade do GA entre execuções; o w aplicado é o melhor na validação (não a mediana), o que explica a variação de desempenho de série para série.</a:t>
            </a: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E3384F1-F1F3-39F4-C1A0-C52C55595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8400" y="6489700"/>
            <a:ext cx="2133600" cy="365125"/>
          </a:xfrm>
        </p:spPr>
        <p:txBody>
          <a:bodyPr/>
          <a:lstStyle/>
          <a:p>
            <a:fld id="{C1FF6DA9-008F-8B48-92A6-B652298478BF}" type="slidenum">
              <a:rPr lang="pt-BR" noProof="0" smtClean="0"/>
              <a:t>10</a:t>
            </a:fld>
            <a:endParaRPr lang="pt-BR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D97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02920" y="138941"/>
            <a:ext cx="10789920" cy="68223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pt-BR" sz="2800" b="1" i="0" noProof="0" dirty="0">
                <a:solidFill>
                  <a:srgbClr val="FFFFFF"/>
                </a:solidFill>
                <a:latin typeface="Calibri"/>
              </a:rPr>
              <a:t>Resultados — Previsões por Base</a:t>
            </a:r>
          </a:p>
          <a:p>
            <a:pPr algn="l">
              <a:spcAft>
                <a:spcPts val="0"/>
              </a:spcAft>
            </a:pPr>
            <a:r>
              <a:rPr lang="pt-BR" sz="1300" b="0" i="1" noProof="0" dirty="0">
                <a:solidFill>
                  <a:srgbClr val="DDE8F7"/>
                </a:solidFill>
                <a:latin typeface="Calibri"/>
              </a:rPr>
              <a:t>Previsto vs. observado no teste — 6 séries (</a:t>
            </a:r>
            <a:r>
              <a:rPr lang="pt-BR" sz="1300" b="0" i="1" noProof="0" dirty="0" err="1">
                <a:solidFill>
                  <a:srgbClr val="DDE8F7"/>
                </a:solidFill>
                <a:latin typeface="Calibri"/>
              </a:rPr>
              <a:t>one</a:t>
            </a:r>
            <a:r>
              <a:rPr lang="pt-BR" sz="1300" b="0" i="1" noProof="0" dirty="0">
                <a:solidFill>
                  <a:srgbClr val="DDE8F7"/>
                </a:solidFill>
                <a:latin typeface="Calibri"/>
              </a:rPr>
              <a:t>-step-</a:t>
            </a:r>
            <a:r>
              <a:rPr lang="pt-BR" sz="1300" b="0" i="1" noProof="0" dirty="0" err="1">
                <a:solidFill>
                  <a:srgbClr val="DDE8F7"/>
                </a:solidFill>
                <a:latin typeface="Calibri"/>
              </a:rPr>
              <a:t>ahead</a:t>
            </a:r>
            <a:r>
              <a:rPr lang="pt-BR" sz="1300" b="0" i="1" noProof="0" dirty="0">
                <a:solidFill>
                  <a:srgbClr val="DDE8F7"/>
                </a:solidFill>
                <a:latin typeface="Calibri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91440"/>
            <a:ext cx="1371600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lang="pt-BR" sz="3000" b="1" i="0" noProof="0" dirty="0">
                <a:solidFill>
                  <a:srgbClr val="D9771E"/>
                </a:solidFill>
                <a:latin typeface="Calibri"/>
              </a:rPr>
              <a:t>4</a:t>
            </a:r>
          </a:p>
        </p:txBody>
      </p:sp>
      <p:pic>
        <p:nvPicPr>
          <p:cNvPr id="6" name="Picture 5" descr="predictions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734" y="1234440"/>
            <a:ext cx="8375483" cy="4160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532120"/>
            <a:ext cx="11183112" cy="1051560"/>
          </a:xfrm>
          <a:prstGeom prst="roundRect">
            <a:avLst/>
          </a:prstGeom>
          <a:solidFill>
            <a:srgbClr val="ECEEF1"/>
          </a:solidFill>
          <a:ln w="12700">
            <a:solidFill>
              <a:srgbClr val="5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8100" bIns="38100" rtlCol="0" anchor="ctr"/>
          <a:lstStyle/>
          <a:p>
            <a:pPr algn="ctr">
              <a:spcAft>
                <a:spcPts val="100"/>
              </a:spcAft>
            </a:pP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Ajuste do modelo/ensemble vencedor por série. Séries mais suaves (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melbmin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,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coloradoRiver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,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air_quality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) são bem previstas; séries curtas e ruidosas (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airlines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,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lynx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) são mais difíceis.</a:t>
            </a: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6E9967E-F470-FE5D-BE22-ECE475F77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8095" y="6492875"/>
            <a:ext cx="2133600" cy="365125"/>
          </a:xfrm>
        </p:spPr>
        <p:txBody>
          <a:bodyPr/>
          <a:lstStyle/>
          <a:p>
            <a:fld id="{C1FF6DA9-008F-8B48-92A6-B652298478BF}" type="slidenum">
              <a:rPr lang="pt-BR" noProof="0" smtClean="0"/>
              <a:t>11</a:t>
            </a:fld>
            <a:endParaRPr lang="pt-BR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D97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789920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pt-BR" sz="2800" b="1" i="0" noProof="0" dirty="0">
                <a:solidFill>
                  <a:srgbClr val="FFFFFF"/>
                </a:solidFill>
                <a:latin typeface="Calibri"/>
              </a:rPr>
              <a:t>Conclusão</a:t>
            </a:r>
          </a:p>
          <a:p>
            <a:pPr algn="l">
              <a:spcAft>
                <a:spcPts val="0"/>
              </a:spcAft>
            </a:pPr>
            <a:r>
              <a:rPr lang="pt-BR" sz="1300" b="0" i="1" noProof="0" dirty="0">
                <a:solidFill>
                  <a:srgbClr val="DDE8F7"/>
                </a:solidFill>
                <a:latin typeface="Calibri"/>
              </a:rPr>
              <a:t>O método proposto atingiu o resultado esperado? Por quê?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91440"/>
            <a:ext cx="1371600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lang="pt-BR" sz="3000" b="1" i="0" noProof="0" dirty="0">
                <a:solidFill>
                  <a:srgbClr val="D9771E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109960" cy="461921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1600" b="1" i="0" noProof="0" dirty="0">
                <a:solidFill>
                  <a:srgbClr val="1F2A44"/>
                </a:solidFill>
                <a:latin typeface="Calibri"/>
              </a:rPr>
              <a:t>Resposta: parcialmente — o GA é competitivo, mas não domina.</a:t>
            </a:r>
          </a:p>
          <a:p>
            <a:pPr algn="l">
              <a:spcAft>
                <a:spcPts val="200"/>
              </a:spcAft>
            </a:pPr>
            <a:r>
              <a:rPr lang="pt-BR" sz="1500" b="1" i="0" noProof="0" dirty="0">
                <a:solidFill>
                  <a:srgbClr val="2E5EAA"/>
                </a:solidFill>
                <a:latin typeface="Calibri"/>
              </a:rPr>
              <a:t>Resultado (6 bases)</a:t>
            </a:r>
          </a:p>
          <a:p>
            <a:pPr algn="l">
              <a:spcAft>
                <a:spcPts val="400"/>
              </a:spcAft>
            </a:pPr>
            <a:r>
              <a:rPr lang="pt-BR" sz="1350" b="0" i="0" noProof="0" dirty="0">
                <a:solidFill>
                  <a:srgbClr val="222730"/>
                </a:solidFill>
                <a:latin typeface="Calibri"/>
              </a:rPr>
              <a:t>•  Friedman significativo (χ² = 18,67; p = 0,009), mas o pós-teste de </a:t>
            </a:r>
            <a:r>
              <a:rPr lang="pt-BR" sz="1350" b="0" i="0" noProof="0" dirty="0" err="1">
                <a:solidFill>
                  <a:srgbClr val="222730"/>
                </a:solidFill>
                <a:latin typeface="Calibri"/>
              </a:rPr>
              <a:t>Nemenyi</a:t>
            </a:r>
            <a:r>
              <a:rPr lang="pt-BR" sz="1350" b="0" i="0" noProof="0" dirty="0">
                <a:solidFill>
                  <a:srgbClr val="222730"/>
                </a:solidFill>
                <a:latin typeface="Calibri"/>
              </a:rPr>
              <a:t> só separa o KNN do grupo de topo — todos os demais pares são estatisticamente equivalentes (GA×MLP e GA×EMEAN com p = 1,0).</a:t>
            </a:r>
          </a:p>
          <a:p>
            <a:pPr algn="l">
              <a:spcAft>
                <a:spcPts val="400"/>
              </a:spcAft>
            </a:pPr>
            <a:r>
              <a:rPr lang="pt-BR" sz="1350" b="0" i="0" noProof="0" dirty="0">
                <a:solidFill>
                  <a:srgbClr val="222730"/>
                </a:solidFill>
                <a:latin typeface="Calibri"/>
              </a:rPr>
              <a:t>•  No ranking médio o MLP foi o melhor (2,83) e o GA ficou em 2º (3,33); a vantagem do GA sobre o ensemble de média (EMEAN, 3,50) é pequena e não significativa (vence em 3 de 6 bases).</a:t>
            </a:r>
          </a:p>
          <a:p>
            <a:pPr algn="l">
              <a:spcAft>
                <a:spcPts val="400"/>
              </a:spcAft>
            </a:pPr>
            <a:endParaRPr lang="pt-BR" sz="1350" b="0" i="0" noProof="0" dirty="0">
              <a:solidFill>
                <a:srgbClr val="222730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lang="pt-BR" sz="1500" b="1" i="0" noProof="0" dirty="0">
                <a:solidFill>
                  <a:srgbClr val="2E5EAA"/>
                </a:solidFill>
                <a:latin typeface="Calibri"/>
              </a:rPr>
              <a:t>Por quê</a:t>
            </a:r>
          </a:p>
          <a:p>
            <a:pPr algn="l">
              <a:spcAft>
                <a:spcPts val="400"/>
              </a:spcAft>
            </a:pPr>
            <a:r>
              <a:rPr lang="pt-BR" sz="1350" b="0" i="0" noProof="0" dirty="0">
                <a:solidFill>
                  <a:srgbClr val="222730"/>
                </a:solidFill>
                <a:latin typeface="Calibri"/>
              </a:rPr>
              <a:t>•  Com N = 6 bases e k = 8 métodos a distância crítica é larga: o pós-teste tem pouco poder e só resolve que o KNN é o pior. Incluir muitos métodos aumentou a CD e dificultou separar o GA.</a:t>
            </a:r>
          </a:p>
          <a:p>
            <a:pPr algn="l">
              <a:spcAft>
                <a:spcPts val="400"/>
              </a:spcAft>
            </a:pPr>
            <a:r>
              <a:rPr lang="pt-BR" sz="1350" b="0" i="0" noProof="0" dirty="0">
                <a:solidFill>
                  <a:srgbClr val="222730"/>
                </a:solidFill>
                <a:latin typeface="Calibri"/>
              </a:rPr>
              <a:t>•  O GA aprende os pesos na validação e escolhe o melhor de 30 execuções pela validação → tende a </a:t>
            </a:r>
            <a:r>
              <a:rPr lang="pt-BR" sz="1350" b="0" i="0" noProof="0" dirty="0" err="1">
                <a:solidFill>
                  <a:srgbClr val="222730"/>
                </a:solidFill>
                <a:latin typeface="Calibri"/>
              </a:rPr>
              <a:t>superajustar</a:t>
            </a:r>
            <a:r>
              <a:rPr lang="pt-BR" sz="1350" b="0" i="0" noProof="0" dirty="0">
                <a:solidFill>
                  <a:srgbClr val="222730"/>
                </a:solidFill>
                <a:latin typeface="Calibri"/>
              </a:rPr>
              <a:t> essa partição. É 1º–2º em </a:t>
            </a:r>
            <a:r>
              <a:rPr lang="pt-BR" sz="1350" b="0" i="0" noProof="0" dirty="0" err="1">
                <a:solidFill>
                  <a:srgbClr val="222730"/>
                </a:solidFill>
                <a:latin typeface="Calibri"/>
              </a:rPr>
              <a:t>melbmin</a:t>
            </a:r>
            <a:r>
              <a:rPr lang="pt-BR" sz="1350" b="0" i="0" noProof="0" dirty="0">
                <a:solidFill>
                  <a:srgbClr val="222730"/>
                </a:solidFill>
                <a:latin typeface="Calibri"/>
              </a:rPr>
              <a:t>, </a:t>
            </a:r>
            <a:r>
              <a:rPr lang="pt-BR" sz="1350" b="0" i="0" noProof="0" dirty="0" err="1">
                <a:solidFill>
                  <a:srgbClr val="222730"/>
                </a:solidFill>
                <a:latin typeface="Calibri"/>
              </a:rPr>
              <a:t>coloradoRiver</a:t>
            </a:r>
            <a:r>
              <a:rPr lang="pt-BR" sz="1350" b="0" i="0" noProof="0" dirty="0">
                <a:solidFill>
                  <a:srgbClr val="222730"/>
                </a:solidFill>
                <a:latin typeface="Calibri"/>
              </a:rPr>
              <a:t> e </a:t>
            </a:r>
            <a:r>
              <a:rPr lang="pt-BR" sz="1350" b="0" i="0" noProof="0" dirty="0" err="1">
                <a:solidFill>
                  <a:srgbClr val="222730"/>
                </a:solidFill>
                <a:latin typeface="Calibri"/>
              </a:rPr>
              <a:t>air_quality</a:t>
            </a:r>
            <a:r>
              <a:rPr lang="pt-BR" sz="1350" b="0" i="0" noProof="0" dirty="0">
                <a:solidFill>
                  <a:srgbClr val="222730"/>
                </a:solidFill>
                <a:latin typeface="Calibri"/>
              </a:rPr>
              <a:t>, mas 5º nas duas menores (</a:t>
            </a:r>
            <a:r>
              <a:rPr lang="pt-BR" sz="1350" b="0" i="0" noProof="0" dirty="0" err="1">
                <a:solidFill>
                  <a:srgbClr val="222730"/>
                </a:solidFill>
                <a:latin typeface="Calibri"/>
              </a:rPr>
              <a:t>airlines</a:t>
            </a:r>
            <a:r>
              <a:rPr lang="pt-BR" sz="1350" b="0" i="0" noProof="0" dirty="0">
                <a:solidFill>
                  <a:srgbClr val="222730"/>
                </a:solidFill>
                <a:latin typeface="Calibri"/>
              </a:rPr>
              <a:t> e </a:t>
            </a:r>
            <a:r>
              <a:rPr lang="pt-BR" sz="1350" b="0" i="0" noProof="0" dirty="0" err="1">
                <a:solidFill>
                  <a:srgbClr val="222730"/>
                </a:solidFill>
                <a:latin typeface="Calibri"/>
              </a:rPr>
              <a:t>lynx</a:t>
            </a:r>
            <a:r>
              <a:rPr lang="pt-BR" sz="1350" b="0" i="0" noProof="0" dirty="0">
                <a:solidFill>
                  <a:srgbClr val="222730"/>
                </a:solidFill>
                <a:latin typeface="Calibri"/>
              </a:rPr>
              <a:t>) — pesos de uma validação pequena não transferem. Em </a:t>
            </a:r>
            <a:r>
              <a:rPr lang="pt-BR" sz="1350" b="0" i="0" noProof="0" dirty="0" err="1">
                <a:solidFill>
                  <a:srgbClr val="222730"/>
                </a:solidFill>
                <a:latin typeface="Calibri"/>
              </a:rPr>
              <a:t>appliances</a:t>
            </a:r>
            <a:r>
              <a:rPr lang="pt-BR" sz="1350" b="0" i="0" noProof="0" dirty="0">
                <a:solidFill>
                  <a:srgbClr val="222730"/>
                </a:solidFill>
                <a:latin typeface="Calibri"/>
              </a:rPr>
              <a:t> o EMEAN (pesos iguais) ainda supera o GA, reforçando que o ganho do aprendizado de pesos é inconsistente.</a:t>
            </a:r>
          </a:p>
          <a:p>
            <a:pPr algn="l">
              <a:spcAft>
                <a:spcPts val="400"/>
              </a:spcAft>
            </a:pPr>
            <a:endParaRPr lang="pt-BR" sz="1350" b="0" i="0" noProof="0" dirty="0">
              <a:solidFill>
                <a:srgbClr val="222730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lang="pt-BR" sz="1500" b="1" i="0" noProof="0" dirty="0">
                <a:solidFill>
                  <a:srgbClr val="D9771E"/>
                </a:solidFill>
                <a:latin typeface="Calibri"/>
              </a:rPr>
              <a:t>Balanço das contribuições e trabalhos futuros</a:t>
            </a:r>
          </a:p>
          <a:p>
            <a:pPr algn="l">
              <a:spcAft>
                <a:spcPts val="400"/>
              </a:spcAft>
            </a:pPr>
            <a:r>
              <a:rPr lang="pt-BR" sz="1350" b="0" i="0" noProof="0" dirty="0">
                <a:solidFill>
                  <a:srgbClr val="222730"/>
                </a:solidFill>
                <a:latin typeface="Calibri"/>
              </a:rPr>
              <a:t>•  A seleção top-4 mantém o GA no grupo de topo e evita o KNN, mas o aprendizado de pesos rendeu ganho apenas marginal sobre pesos iguais. Resultados indicativos, não conclusivos (N pequeno — o próprio artigo alerta para isso).</a:t>
            </a:r>
          </a:p>
          <a:p>
            <a:pPr algn="l">
              <a:spcAft>
                <a:spcPts val="400"/>
              </a:spcAft>
            </a:pPr>
            <a:r>
              <a:rPr lang="pt-BR" sz="1350" b="0" i="0" noProof="0" dirty="0">
                <a:solidFill>
                  <a:srgbClr val="222730"/>
                </a:solidFill>
                <a:latin typeface="Calibri"/>
              </a:rPr>
              <a:t>•  Futuro: escolher os pesos por validação cruzada (janela deslizante) ou pela média das 30 execuções em vez do melhor-na-validação; mais bases; incluir RF/</a:t>
            </a:r>
            <a:r>
              <a:rPr lang="pt-BR" sz="1350" b="0" i="0" noProof="0" dirty="0" err="1">
                <a:solidFill>
                  <a:srgbClr val="222730"/>
                </a:solidFill>
                <a:latin typeface="Calibri"/>
              </a:rPr>
              <a:t>Gradient</a:t>
            </a:r>
            <a:r>
              <a:rPr lang="pt-BR" sz="1350" b="0" i="0" noProof="0" dirty="0">
                <a:solidFill>
                  <a:srgbClr val="222730"/>
                </a:solidFill>
                <a:latin typeface="Calibri"/>
              </a:rPr>
              <a:t> </a:t>
            </a:r>
            <a:r>
              <a:rPr lang="pt-BR" sz="1350" b="0" i="0" noProof="0" dirty="0" err="1">
                <a:solidFill>
                  <a:srgbClr val="222730"/>
                </a:solidFill>
                <a:latin typeface="Calibri"/>
              </a:rPr>
              <a:t>Boosting</a:t>
            </a:r>
            <a:r>
              <a:rPr lang="pt-BR" sz="1350" b="0" i="0" noProof="0" dirty="0">
                <a:solidFill>
                  <a:srgbClr val="222730"/>
                </a:solidFill>
                <a:latin typeface="Calibri"/>
              </a:rPr>
              <a:t> no pool.</a:t>
            </a: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091D3D3F-9BB9-254B-62BE-9B42D598F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8095" y="6492875"/>
            <a:ext cx="2133600" cy="365125"/>
          </a:xfrm>
        </p:spPr>
        <p:txBody>
          <a:bodyPr/>
          <a:lstStyle/>
          <a:p>
            <a:fld id="{C1FF6DA9-008F-8B48-92A6-B652298478BF}" type="slidenum">
              <a:rPr lang="pt-BR" noProof="0" smtClean="0"/>
              <a:t>12</a:t>
            </a:fld>
            <a:endParaRPr lang="pt-BR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D97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789920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pt-BR" sz="2800" b="1" i="0" noProof="0" dirty="0">
                <a:solidFill>
                  <a:srgbClr val="FFFFFF"/>
                </a:solidFill>
                <a:latin typeface="Calibri"/>
              </a:rPr>
              <a:t>Referências</a:t>
            </a:r>
          </a:p>
          <a:p>
            <a:pPr algn="l">
              <a:spcAft>
                <a:spcPts val="0"/>
              </a:spcAft>
            </a:pPr>
            <a:r>
              <a:rPr lang="pt-BR" sz="1300" b="0" i="1" noProof="0" dirty="0">
                <a:solidFill>
                  <a:srgbClr val="DDE8F7"/>
                </a:solidFill>
                <a:latin typeface="Calibri"/>
              </a:rPr>
              <a:t>Artigo base, bases de dados e métodos estatísticos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91440"/>
            <a:ext cx="1371600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>
              <a:spcAft>
                <a:spcPts val="0"/>
              </a:spcAft>
            </a:pPr>
            <a:endParaRPr lang="pt-BR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74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[1]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Barchi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, T. M., dos Santos, J. L. F., Alves, T. A., et al. (2026). A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genetic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algorithm-based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 ensemble framework for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wind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speed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forecasting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.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Scientific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 Reports, 16, 6847. doi:10.1038/s41598-026-37003-1  — artigo base.</a:t>
            </a:r>
          </a:p>
          <a:p>
            <a:pPr algn="l">
              <a:spcAft>
                <a:spcPts val="700"/>
              </a:spcAft>
            </a:pP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[2]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Demšar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, J. (2006).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Statistical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comparisons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of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classifiers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 over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multiple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 data sets.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Journal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of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 Machine Learning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Research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, 7, 1–30.  — Friedman +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Nemenyi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 e diagrama de distância crítica.</a:t>
            </a:r>
          </a:p>
          <a:p>
            <a:pPr algn="l">
              <a:spcAft>
                <a:spcPts val="700"/>
              </a:spcAft>
            </a:pP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[3] De Vito, S., Massera, E., Piga, M.,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Martinotto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, L., &amp; Di Francia, G. (2008).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On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field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calibration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of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an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electronic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nose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 for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benzene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estimation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 in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an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urban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pollution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monitoring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scenario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.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Sensors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and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Actuators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 B: Chemical.  — base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air_quality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 (UCI 360).</a:t>
            </a:r>
          </a:p>
          <a:p>
            <a:pPr algn="l">
              <a:spcAft>
                <a:spcPts val="700"/>
              </a:spcAft>
            </a:pP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[4]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Candanedo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, L. M.,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Feldheim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, V., &amp;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Deramaix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, D. (2017). Data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driven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prediction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 models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of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energy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 use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of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appliances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 in a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low-energy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house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. Energy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and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Buildings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.  — base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appliances_energy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 (UCI 374).</a:t>
            </a:r>
          </a:p>
          <a:p>
            <a:pPr algn="l">
              <a:spcAft>
                <a:spcPts val="700"/>
              </a:spcAft>
            </a:pP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[5] Box, G. E. P., Jenkins, G. M., &amp;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Reinsel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, G. C. (2015). Time Series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Analysis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: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Forecasting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and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Control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 (5ª ed.). Wiley.  — séries clássicas e metodologia de previsão.</a:t>
            </a:r>
          </a:p>
          <a:p>
            <a:pPr algn="l">
              <a:spcAft>
                <a:spcPts val="700"/>
              </a:spcAft>
            </a:pP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[6] Pedregosa, F., et al. (2011).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Scikit-learn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: Machine Learning in Python.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Journal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of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 Machine Learning </a:t>
            </a:r>
            <a:r>
              <a:rPr lang="pt-BR" sz="1300" b="0" i="0" noProof="0" dirty="0" err="1">
                <a:solidFill>
                  <a:srgbClr val="222730"/>
                </a:solidFill>
                <a:latin typeface="Calibri"/>
              </a:rPr>
              <a:t>Research</a:t>
            </a:r>
            <a:r>
              <a:rPr lang="pt-BR" sz="1300" b="0" i="0" noProof="0" dirty="0">
                <a:solidFill>
                  <a:srgbClr val="222730"/>
                </a:solidFill>
                <a:latin typeface="Calibri"/>
              </a:rPr>
              <a:t>, 12, 2825–2830.</a:t>
            </a:r>
          </a:p>
          <a:p>
            <a:pPr algn="l">
              <a:spcAft>
                <a:spcPts val="0"/>
              </a:spcAft>
            </a:pPr>
            <a:r>
              <a:rPr lang="pt-BR" sz="1200" b="0" i="1" noProof="0" dirty="0">
                <a:solidFill>
                  <a:srgbClr val="6B7280"/>
                </a:solidFill>
                <a:latin typeface="Calibri"/>
              </a:rPr>
              <a:t>Bases clássicas (</a:t>
            </a:r>
            <a:r>
              <a:rPr lang="pt-BR" sz="1200" b="0" i="1" noProof="0" dirty="0" err="1">
                <a:solidFill>
                  <a:srgbClr val="6B7280"/>
                </a:solidFill>
                <a:latin typeface="Calibri"/>
              </a:rPr>
              <a:t>airlines</a:t>
            </a:r>
            <a:r>
              <a:rPr lang="pt-BR" sz="1200" b="0" i="1" noProof="0" dirty="0">
                <a:solidFill>
                  <a:srgbClr val="6B7280"/>
                </a:solidFill>
                <a:latin typeface="Calibri"/>
              </a:rPr>
              <a:t>, </a:t>
            </a:r>
            <a:r>
              <a:rPr lang="pt-BR" sz="1200" b="0" i="1" noProof="0" dirty="0" err="1">
                <a:solidFill>
                  <a:srgbClr val="6B7280"/>
                </a:solidFill>
                <a:latin typeface="Calibri"/>
              </a:rPr>
              <a:t>lynx</a:t>
            </a:r>
            <a:r>
              <a:rPr lang="pt-BR" sz="1200" b="0" i="1" noProof="0" dirty="0">
                <a:solidFill>
                  <a:srgbClr val="6B7280"/>
                </a:solidFill>
                <a:latin typeface="Calibri"/>
              </a:rPr>
              <a:t>, </a:t>
            </a:r>
            <a:r>
              <a:rPr lang="pt-BR" sz="1200" b="0" i="1" noProof="0" dirty="0" err="1">
                <a:solidFill>
                  <a:srgbClr val="6B7280"/>
                </a:solidFill>
                <a:latin typeface="Calibri"/>
              </a:rPr>
              <a:t>coloradoRiver</a:t>
            </a:r>
            <a:r>
              <a:rPr lang="pt-BR" sz="1200" b="0" i="1" noProof="0" dirty="0">
                <a:solidFill>
                  <a:srgbClr val="6B7280"/>
                </a:solidFill>
                <a:latin typeface="Calibri"/>
              </a:rPr>
              <a:t>, </a:t>
            </a:r>
            <a:r>
              <a:rPr lang="pt-BR" sz="1200" b="0" i="1" noProof="0" dirty="0" err="1">
                <a:solidFill>
                  <a:srgbClr val="6B7280"/>
                </a:solidFill>
                <a:latin typeface="Calibri"/>
              </a:rPr>
              <a:t>melbmin</a:t>
            </a:r>
            <a:r>
              <a:rPr lang="pt-BR" sz="1200" b="0" i="1" noProof="0" dirty="0">
                <a:solidFill>
                  <a:srgbClr val="6B7280"/>
                </a:solidFill>
                <a:latin typeface="Calibri"/>
              </a:rPr>
              <a:t>): repositórios públicos de séries temporais. Pós-teste de </a:t>
            </a:r>
            <a:r>
              <a:rPr lang="pt-BR" sz="1200" b="0" i="1" noProof="0" dirty="0" err="1">
                <a:solidFill>
                  <a:srgbClr val="6B7280"/>
                </a:solidFill>
                <a:latin typeface="Calibri"/>
              </a:rPr>
              <a:t>Nemenyi</a:t>
            </a:r>
            <a:r>
              <a:rPr lang="pt-BR" sz="1200" b="0" i="1" noProof="0" dirty="0">
                <a:solidFill>
                  <a:srgbClr val="6B7280"/>
                </a:solidFill>
                <a:latin typeface="Calibri"/>
              </a:rPr>
              <a:t> via </a:t>
            </a:r>
            <a:r>
              <a:rPr lang="pt-BR" sz="1200" b="0" i="1" noProof="0" dirty="0" err="1">
                <a:solidFill>
                  <a:srgbClr val="6B7280"/>
                </a:solidFill>
                <a:latin typeface="Calibri"/>
              </a:rPr>
              <a:t>scikit-posthocs</a:t>
            </a:r>
            <a:r>
              <a:rPr lang="pt-BR" sz="1200" b="0" i="1" noProof="0" dirty="0">
                <a:solidFill>
                  <a:srgbClr val="6B7280"/>
                </a:solidFill>
                <a:latin typeface="Calibri"/>
              </a:rPr>
              <a:t> (</a:t>
            </a:r>
            <a:r>
              <a:rPr lang="pt-BR" sz="1200" b="0" i="1" noProof="0" dirty="0" err="1">
                <a:solidFill>
                  <a:srgbClr val="6B7280"/>
                </a:solidFill>
                <a:latin typeface="Calibri"/>
              </a:rPr>
              <a:t>Terpilowski</a:t>
            </a:r>
            <a:r>
              <a:rPr lang="pt-BR" sz="1200" b="0" i="1" noProof="0" dirty="0">
                <a:solidFill>
                  <a:srgbClr val="6B7280"/>
                </a:solidFill>
                <a:latin typeface="Calibri"/>
              </a:rPr>
              <a:t>, 2019).</a:t>
            </a:r>
          </a:p>
        </p:txBody>
      </p:sp>
      <p:sp>
        <p:nvSpPr>
          <p:cNvPr id="7" name="Espaço Reservado para Número de Slide 7">
            <a:extLst>
              <a:ext uri="{FF2B5EF4-FFF2-40B4-BE49-F238E27FC236}">
                <a16:creationId xmlns:a16="http://schemas.microsoft.com/office/drawing/2014/main" id="{09A38339-0865-FF05-8524-9ACB84D59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8095" y="6492875"/>
            <a:ext cx="2133600" cy="365125"/>
          </a:xfrm>
        </p:spPr>
        <p:txBody>
          <a:bodyPr/>
          <a:lstStyle/>
          <a:p>
            <a:fld id="{C1FF6DA9-008F-8B48-92A6-B652298478BF}" type="slidenum">
              <a:rPr lang="pt-BR" noProof="0" smtClean="0"/>
              <a:t>13</a:t>
            </a:fld>
            <a:endParaRPr lang="pt-BR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68D18-3445-3985-44FD-055B514D8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CDA8C5-59E3-3B36-1328-8E4080EFCBC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F91421-C01A-DD0D-7B79-FCB005242267}"/>
              </a:ext>
            </a:extLst>
          </p:cNvPr>
          <p:cNvSpPr/>
          <p:nvPr/>
        </p:nvSpPr>
        <p:spPr>
          <a:xfrm>
            <a:off x="0" y="4160520"/>
            <a:ext cx="12191695" cy="82296"/>
          </a:xfrm>
          <a:prstGeom prst="rect">
            <a:avLst/>
          </a:prstGeom>
          <a:solidFill>
            <a:srgbClr val="D97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CA0045-2DDB-0A2A-005A-3ADED09A3BD9}"/>
              </a:ext>
            </a:extLst>
          </p:cNvPr>
          <p:cNvSpPr txBox="1"/>
          <p:nvPr/>
        </p:nvSpPr>
        <p:spPr>
          <a:xfrm>
            <a:off x="822960" y="3078619"/>
            <a:ext cx="10515600" cy="1036181"/>
          </a:xfrm>
          <a:prstGeom prst="rect">
            <a:avLst/>
          </a:prstGeom>
          <a:noFill/>
        </p:spPr>
        <p:txBody>
          <a:bodyPr wrap="square" lIns="25400" tIns="25400" rIns="25400" bIns="25400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lang="pt-BR" sz="4000" b="1" i="0" noProof="0" dirty="0">
                <a:solidFill>
                  <a:srgbClr val="FFFFFF"/>
                </a:solidFill>
                <a:latin typeface="Calibri"/>
              </a:rPr>
              <a:t>Agradecemos a participação!</a:t>
            </a:r>
          </a:p>
          <a:p>
            <a:pPr algn="l">
              <a:spcAft>
                <a:spcPts val="400"/>
              </a:spcAft>
            </a:pPr>
            <a:r>
              <a:rPr lang="pt-BR" sz="1900" b="0" i="1" noProof="0" dirty="0">
                <a:solidFill>
                  <a:srgbClr val="DDE8F7"/>
                </a:solidFill>
                <a:latin typeface="Calibri"/>
              </a:rPr>
              <a:t>Dúvidas?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07FD1C-263C-CAB5-397C-48DAD81D7B89}"/>
              </a:ext>
            </a:extLst>
          </p:cNvPr>
          <p:cNvSpPr txBox="1"/>
          <p:nvPr/>
        </p:nvSpPr>
        <p:spPr>
          <a:xfrm>
            <a:off x="822960" y="4389120"/>
            <a:ext cx="10515600" cy="167335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2000" b="1" i="0" noProof="0" dirty="0">
                <a:solidFill>
                  <a:srgbClr val="FFFFFF"/>
                </a:solidFill>
                <a:latin typeface="Calibri"/>
              </a:rPr>
              <a:t>Daidson Fonseca Alves</a:t>
            </a:r>
          </a:p>
          <a:p>
            <a:pPr algn="l">
              <a:spcAft>
                <a:spcPts val="200"/>
              </a:spcAft>
            </a:pPr>
            <a:r>
              <a:rPr lang="pt-BR" sz="2000" b="1" i="0" noProof="0" dirty="0">
                <a:solidFill>
                  <a:srgbClr val="FFFFFF"/>
                </a:solidFill>
                <a:latin typeface="Calibri"/>
              </a:rPr>
              <a:t>Saint-Clair dos Santos Ramos Filho</a:t>
            </a:r>
          </a:p>
          <a:p>
            <a:pPr algn="l">
              <a:spcAft>
                <a:spcPts val="600"/>
              </a:spcAft>
            </a:pPr>
            <a:r>
              <a:rPr lang="pt-BR" sz="2000" b="1" i="0" noProof="0" dirty="0">
                <a:solidFill>
                  <a:srgbClr val="FFFFFF"/>
                </a:solidFill>
                <a:latin typeface="Calibri"/>
              </a:rPr>
              <a:t>Thales Rodrigo de Moraes Rego Moura Mendes</a:t>
            </a:r>
          </a:p>
          <a:p>
            <a:pPr algn="l">
              <a:spcAft>
                <a:spcPts val="400"/>
              </a:spcAft>
            </a:pPr>
            <a:r>
              <a:rPr lang="pt-BR" sz="1500" b="0" i="0" noProof="0" dirty="0">
                <a:solidFill>
                  <a:srgbClr val="B9C4D8"/>
                </a:solidFill>
                <a:latin typeface="Calibri"/>
              </a:rPr>
              <a:t>Docente: Prof. Dr. João Fausto Lorenzato de Oliveira · Disciplina: Reconhecimento de Padrões · PPGEC 2026.1</a:t>
            </a:r>
          </a:p>
          <a:p>
            <a:pPr algn="l">
              <a:spcAft>
                <a:spcPts val="400"/>
              </a:spcAft>
            </a:pPr>
            <a:r>
              <a:rPr lang="pt-BR" sz="1200" b="0" i="1" noProof="0" dirty="0">
                <a:solidFill>
                  <a:srgbClr val="8F9DB8"/>
                </a:solidFill>
                <a:latin typeface="Calibri"/>
              </a:rPr>
              <a:t>Base: </a:t>
            </a:r>
            <a:r>
              <a:rPr lang="pt-BR" sz="1200" b="0" i="1" noProof="0" dirty="0" err="1">
                <a:solidFill>
                  <a:srgbClr val="8F9DB8"/>
                </a:solidFill>
                <a:latin typeface="Calibri"/>
              </a:rPr>
              <a:t>Sci</a:t>
            </a:r>
            <a:r>
              <a:rPr lang="pt-BR" sz="1200" b="0" i="1" noProof="0" dirty="0">
                <a:solidFill>
                  <a:srgbClr val="8F9DB8"/>
                </a:solidFill>
                <a:latin typeface="Calibri"/>
              </a:rPr>
              <a:t>. Reports (2026) — “A </a:t>
            </a:r>
            <a:r>
              <a:rPr lang="pt-BR" sz="1200" b="0" i="1" noProof="0" dirty="0" err="1">
                <a:solidFill>
                  <a:srgbClr val="8F9DB8"/>
                </a:solidFill>
                <a:latin typeface="Calibri"/>
              </a:rPr>
              <a:t>genetic</a:t>
            </a:r>
            <a:r>
              <a:rPr lang="pt-BR" sz="1200" b="0" i="1" noProof="0" dirty="0">
                <a:solidFill>
                  <a:srgbClr val="8F9DB8"/>
                </a:solidFill>
                <a:latin typeface="Calibri"/>
              </a:rPr>
              <a:t> </a:t>
            </a:r>
            <a:r>
              <a:rPr lang="pt-BR" sz="1200" b="0" i="1" noProof="0" dirty="0" err="1">
                <a:solidFill>
                  <a:srgbClr val="8F9DB8"/>
                </a:solidFill>
                <a:latin typeface="Calibri"/>
              </a:rPr>
              <a:t>algorithm-based</a:t>
            </a:r>
            <a:r>
              <a:rPr lang="pt-BR" sz="1200" b="0" i="1" noProof="0" dirty="0">
                <a:solidFill>
                  <a:srgbClr val="8F9DB8"/>
                </a:solidFill>
                <a:latin typeface="Calibri"/>
              </a:rPr>
              <a:t> ensemble framework for </a:t>
            </a:r>
            <a:r>
              <a:rPr lang="pt-BR" sz="1200" b="0" i="1" noProof="0" dirty="0" err="1">
                <a:solidFill>
                  <a:srgbClr val="8F9DB8"/>
                </a:solidFill>
                <a:latin typeface="Calibri"/>
              </a:rPr>
              <a:t>wind</a:t>
            </a:r>
            <a:r>
              <a:rPr lang="pt-BR" sz="1200" b="0" i="1" noProof="0" dirty="0">
                <a:solidFill>
                  <a:srgbClr val="8F9DB8"/>
                </a:solidFill>
                <a:latin typeface="Calibri"/>
              </a:rPr>
              <a:t> </a:t>
            </a:r>
            <a:r>
              <a:rPr lang="pt-BR" sz="1200" b="0" i="1" noProof="0" dirty="0" err="1">
                <a:solidFill>
                  <a:srgbClr val="8F9DB8"/>
                </a:solidFill>
                <a:latin typeface="Calibri"/>
              </a:rPr>
              <a:t>speed</a:t>
            </a:r>
            <a:r>
              <a:rPr lang="pt-BR" sz="1200" b="0" i="1" noProof="0" dirty="0">
                <a:solidFill>
                  <a:srgbClr val="8F9DB8"/>
                </a:solidFill>
                <a:latin typeface="Calibri"/>
              </a:rPr>
              <a:t> </a:t>
            </a:r>
            <a:r>
              <a:rPr lang="pt-BR" sz="1200" b="0" i="1" noProof="0" dirty="0" err="1">
                <a:solidFill>
                  <a:srgbClr val="8F9DB8"/>
                </a:solidFill>
                <a:latin typeface="Calibri"/>
              </a:rPr>
              <a:t>forecasting</a:t>
            </a:r>
            <a:r>
              <a:rPr lang="pt-BR" sz="1200" b="0" i="1" noProof="0" dirty="0">
                <a:solidFill>
                  <a:srgbClr val="8F9DB8"/>
                </a:solidFill>
                <a:latin typeface="Calibri"/>
              </a:rPr>
              <a:t>”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D8D2CF75-567B-9F34-F087-8F04203DC737}"/>
              </a:ext>
            </a:extLst>
          </p:cNvPr>
          <p:cNvGrpSpPr/>
          <p:nvPr/>
        </p:nvGrpSpPr>
        <p:grpSpPr>
          <a:xfrm>
            <a:off x="502920" y="234540"/>
            <a:ext cx="2536292" cy="551844"/>
            <a:chOff x="502920" y="234540"/>
            <a:chExt cx="2536292" cy="551844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C3A437DE-6D95-00D1-82B9-C5D547CFF29F}"/>
                </a:ext>
              </a:extLst>
            </p:cNvPr>
            <p:cNvSpPr>
              <a:spLocks/>
            </p:cNvSpPr>
            <p:nvPr/>
          </p:nvSpPr>
          <p:spPr>
            <a:xfrm>
              <a:off x="502920" y="234540"/>
              <a:ext cx="2536292" cy="551844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F4D58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pic>
          <p:nvPicPr>
            <p:cNvPr id="10" name="Picture 2" descr="PPGEC / UPE - Principal">
              <a:extLst>
                <a:ext uri="{FF2B5EF4-FFF2-40B4-BE49-F238E27FC236}">
                  <a16:creationId xmlns:a16="http://schemas.microsoft.com/office/drawing/2014/main" id="{A9BD4B53-ACD5-E49B-2204-9DE430C9B4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998" y="348054"/>
              <a:ext cx="1003990" cy="3154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871DB683-C449-7FAE-42BC-5BD563B19938}"/>
                </a:ext>
              </a:extLst>
            </p:cNvPr>
            <p:cNvCxnSpPr>
              <a:cxnSpLocks/>
            </p:cNvCxnSpPr>
            <p:nvPr/>
          </p:nvCxnSpPr>
          <p:spPr>
            <a:xfrm>
              <a:off x="1771066" y="352728"/>
              <a:ext cx="0" cy="315468"/>
            </a:xfrm>
            <a:prstGeom prst="line">
              <a:avLst/>
            </a:prstGeom>
            <a:ln>
              <a:solidFill>
                <a:srgbClr val="0E3D49"/>
              </a:solidFill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0A67C093-C6A6-2967-F109-C61E92A2C7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04672" y="327429"/>
              <a:ext cx="800934" cy="3567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9B6F23C-0960-6ACA-821C-F96743E53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8095" y="6489700"/>
            <a:ext cx="2133600" cy="365125"/>
          </a:xfrm>
        </p:spPr>
        <p:txBody>
          <a:bodyPr/>
          <a:lstStyle/>
          <a:p>
            <a:fld id="{C1FF6DA9-008F-8B48-92A6-B652298478BF}" type="slidenum">
              <a:rPr lang="pt-BR" noProof="0" smtClean="0"/>
              <a:t>14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384694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2311</Words>
  <Application>Microsoft Office PowerPoint</Application>
  <PresentationFormat>Widescreen</PresentationFormat>
  <Paragraphs>243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Daidson Alves</cp:lastModifiedBy>
  <cp:revision>6</cp:revision>
  <dcterms:created xsi:type="dcterms:W3CDTF">2013-01-27T09:14:16Z</dcterms:created>
  <dcterms:modified xsi:type="dcterms:W3CDTF">2026-07-06T00:50:55Z</dcterms:modified>
  <cp:category/>
</cp:coreProperties>
</file>